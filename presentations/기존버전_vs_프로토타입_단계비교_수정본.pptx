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발표는 기존 운영 버전의 장점을 버리는 것이 아니라, 초기 기획 단계의 판단 비용을 줄이는 프로토타입 구조가 무엇이 다른지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프로토타입은 9개 화면을 단순히 5개로 축약한 것이 아닙니다. 언제 무엇을 결정해야 하는지를 사용자의 실제 교과서 개발 순서에 맞췄습니다.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3단계의 개발 방향은 비교할 단원 구조가 정해지기 전에 등장했습니다. 프로토타입에서는 단원과 차시를 먼저 확정하고 4단계에서 체제안을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기존 기능이 삭제되었는지, 통합되었는지, 순서가 이동했는지를 설명하기 위한 핵심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1단계에서는 전처리 자료가 있는 값과 없는 값을 명확히 구분합니다. 공식자료가 없으면 임의값을 사실처럼 보여주지 않고 경고와 함께 사용자가 입력할 수 있게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프로토타입의 2단계는 교육과정 전체를 확인하는 곳이고, 3단계는 실제 단원 구조와 차시를 함께 편집하는 곳입니다. 기존 5개 단계의 왕복을 줄였습니다.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3안은 목차와 성취기준을 바꾸는 것이 아닙니다. 같은 소단원에서 페이지 구성과 활동 내용의 강조점을 달리해 비교합니다. 현재는 더미 생성이며 실제 API는 연결하지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프로토타입의 3안 생성은 더미지만 PDF 모의심사는 실제 OpenAI API를 호출합니다. 스포츠 문화 등 고등 체육 인정도서는 20개 인정기준을 적용합니다.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결론적으로 프로토타입은 공식 근거 확인, 구조 설계, 3안 비교, 승인 후 편집이라는 순서를 검증합니다. 다음 단계는 이 흐름의 승인 여부를 정하는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0350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STUDIO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21792" y="39136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9단계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462272"/>
            <a:ext cx="2377440" cy="0"/>
          </a:xfrm>
          <a:prstGeom prst="line">
            <a:avLst/>
          </a:prstGeom>
          <a:noFill/>
          <a:ln w="50800">
            <a:solidFill>
              <a:srgbClr val="E8775D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21792" y="46451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5단계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1792" y="560527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단계를 줄이고, 판단 근거와 비교 과정을 강화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941832"/>
            <a:ext cx="1700784" cy="310896"/>
          </a:xfrm>
          <a:prstGeom prst="roundRect">
            <a:avLst>
              <a:gd name="adj" fmla="val 47059"/>
            </a:avLst>
          </a:prstGeom>
          <a:solidFill>
            <a:srgbClr val="E8775D"/>
          </a:solidFill>
          <a:ln w="12700">
            <a:solidFill>
              <a:srgbClr val="E877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95097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COMPARISON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00600" y="1481328"/>
            <a:ext cx="6446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버전과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프로토타입은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달라졌나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4828032" y="385876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구조 · 공식 근거 · 3개 초안 비교 · 협업 권한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8032" y="5989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2026. 08. 12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변화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수를 줄인 것이 아니라 의사결정 순서를 다시 설계했습니다.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3401568" cy="1572768"/>
          </a:xfrm>
          <a:prstGeom prst="roundRect">
            <a:avLst>
              <a:gd name="adj" fmla="val 9302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73352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→ 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77824" y="227685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통합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2624328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분석·배분·목차 설계를 묶어 중복 이동 축소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508760"/>
            <a:ext cx="3401568" cy="1572768"/>
          </a:xfrm>
          <a:prstGeom prst="roundRect">
            <a:avLst>
              <a:gd name="adj" fmla="val 9302"/>
            </a:avLst>
          </a:prstGeom>
          <a:solidFill>
            <a:srgbClr val="FBE8E2"/>
          </a:solidFill>
          <a:ln w="12700">
            <a:solidFill>
              <a:srgbClr val="FB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673352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→ 뒤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08576" y="227685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방향 결정 시점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2624328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단원·소단원 구조를 정한 뒤 3개 체제안 비교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19872" y="1508760"/>
            <a:ext cx="3401568" cy="1572768"/>
          </a:xfrm>
          <a:prstGeom prst="roundRect">
            <a:avLst>
              <a:gd name="adj" fmla="val 9302"/>
            </a:avLst>
          </a:prstGeom>
          <a:solidFill>
            <a:srgbClr val="FAF1D9"/>
          </a:solidFill>
          <a:ln w="12700">
            <a:solidFill>
              <a:srgbClr val="FAF1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673352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477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→ 선택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39328" y="227685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 범위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2624328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소단원만 3안 생성해 API 비용 통제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3429000"/>
            <a:ext cx="10863072" cy="2359152"/>
          </a:xfrm>
          <a:prstGeom prst="roundRect">
            <a:avLst>
              <a:gd name="adj" fmla="val 6202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6758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프로토타입의 핵심 원칙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32688" y="4251960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114800"/>
            <a:ext cx="9829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전처리 데이터가 먼저 들어오고, 사용자가 원문·원본 쪽수를 확인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32688" y="4754880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617720"/>
            <a:ext cx="9829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목차와 성취기준을 고정한 채 심사통과형·학교실행형·창의형을 비교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32688" y="5257800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5120640"/>
            <a:ext cx="9829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승인 전에는 수정 가능, 승인 후에는 잠금되는 협업 흐름을 시뮬레이션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구조 비교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분절된 설계를 프로토타입에서는 두 개의 핵심 설계 단계로 통합했습니다.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26464"/>
            <a:ext cx="1371600" cy="310896"/>
          </a:xfrm>
          <a:prstGeom prst="roundRect">
            <a:avLst>
              <a:gd name="adj" fmla="val 47059"/>
            </a:avLst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35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운영 버전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65376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75104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08960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FBE8E2"/>
          </a:solidFill>
          <a:ln w="12700">
            <a:solidFill>
              <a:srgbClr val="FBE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18688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52544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62272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성취기준·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 배분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96128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05856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05856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내용·종목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39712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49440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목차·쪽수·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 설계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83296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3024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93024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설계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326880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36608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36608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초안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570464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80192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680192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자동검증·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모의심사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559552" y="3090672"/>
            <a:ext cx="1051560" cy="502920"/>
          </a:xfrm>
          <a:prstGeom prst="chevron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60273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통합·이동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" y="4041648"/>
            <a:ext cx="1133856" cy="310896"/>
          </a:xfrm>
          <a:prstGeom prst="roundRect">
            <a:avLst>
              <a:gd name="adj" fmla="val 47059"/>
            </a:avLst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05079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" y="4480560"/>
            <a:ext cx="1417320" cy="1078992"/>
          </a:xfrm>
          <a:prstGeom prst="roundRect">
            <a:avLst>
              <a:gd name="adj" fmla="val 9322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5902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31520" y="4837176"/>
            <a:ext cx="119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설정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240280" y="4480560"/>
            <a:ext cx="1874520" cy="1078992"/>
          </a:xfrm>
          <a:prstGeom prst="roundRect">
            <a:avLst>
              <a:gd name="adj" fmla="val 9322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0008" y="45902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350008" y="4837176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 확인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315968" y="4480560"/>
            <a:ext cx="2286000" cy="1078992"/>
          </a:xfrm>
          <a:prstGeom prst="roundRect">
            <a:avLst>
              <a:gd name="adj" fmla="val 9322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25696" y="45902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425696" y="4837176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단원·차시 배분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803136" y="4480560"/>
            <a:ext cx="1901952" cy="1078992"/>
          </a:xfrm>
          <a:prstGeom prst="roundRect">
            <a:avLst>
              <a:gd name="adj" fmla="val 9322"/>
            </a:avLst>
          </a:prstGeom>
          <a:solidFill>
            <a:srgbClr val="FBE8E2"/>
          </a:solidFill>
          <a:ln w="12700">
            <a:solidFill>
              <a:srgbClr val="FBE8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12864" y="45902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12864" y="4837176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체제안 선택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906256" y="4480560"/>
            <a:ext cx="1691640" cy="1078992"/>
          </a:xfrm>
          <a:prstGeom prst="roundRect">
            <a:avLst>
              <a:gd name="adj" fmla="val 9322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15984" y="45902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015984" y="4837176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모의심사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10241280" y="4480560"/>
            <a:ext cx="1298448" cy="1078992"/>
          </a:xfrm>
          <a:prstGeom prst="roundRect">
            <a:avLst>
              <a:gd name="adj" fmla="val 9322"/>
            </a:avLst>
          </a:prstGeom>
          <a:solidFill>
            <a:srgbClr val="FAF1D9"/>
          </a:solidFill>
          <a:ln w="12700">
            <a:solidFill>
              <a:srgbClr val="FAF1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69296" y="4590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68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369296" y="4855464"/>
            <a:ext cx="10332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68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검정·인정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8A68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구분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58368" y="5879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변화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700784" y="5824728"/>
            <a:ext cx="9555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방향(기존 3단계)을 단원·목차가 정해진 뒤로 이동해 실제 초안 차이를 비교할 수 있게 함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단계가 어디로 이동했나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유지·통합·이동·후속 연결을 기준으로 매핑했습니다.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89888"/>
            <a:ext cx="2542032" cy="493776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단계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389888"/>
            <a:ext cx="2578608" cy="493776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389888"/>
            <a:ext cx="2176272" cy="493776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방식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49640" y="1389888"/>
            <a:ext cx="2999232" cy="493776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77656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달라진 판단 기준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1883664"/>
            <a:ext cx="25420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195681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프로젝트 설정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3383280" y="1883664"/>
            <a:ext cx="2578608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1296" y="195681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프로젝트 설정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172200" y="1883664"/>
            <a:ext cx="217627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195681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 + 확장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549640" y="1883664"/>
            <a:ext cx="29992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77656" y="19568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프로젝트·분권 구조·공식 근거 자동 연결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40080" y="2551176"/>
            <a:ext cx="25420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624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교육과정 분석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3383280" y="2551176"/>
            <a:ext cx="257860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11296" y="2624328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교육과정 확인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6172200" y="2551176"/>
            <a:ext cx="217627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262432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재정의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8549640" y="2551176"/>
            <a:ext cx="29992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77656" y="262432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작업보다 성취기준·해설·예시 확인에 집중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40080" y="3218688"/>
            <a:ext cx="25420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32918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4·5·6·7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3383280" y="3218688"/>
            <a:ext cx="2578608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329184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단원·차시 배분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6172200" y="3218688"/>
            <a:ext cx="217627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32918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8549640" y="3218688"/>
            <a:ext cx="29992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77656" y="32918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대·중·소단원, 차시, 쪽수를 같은 맥락에서 조정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40080" y="3886200"/>
            <a:ext cx="25420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395935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개발 방향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3383280" y="3886200"/>
            <a:ext cx="257860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3959352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체제안 선택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6172200" y="3886200"/>
            <a:ext cx="217627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39593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뒤로 이동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8549640" y="3886200"/>
            <a:ext cx="29992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77656" y="395935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소단원을 대상으로 3개 초안 비교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640080" y="4553712"/>
            <a:ext cx="25420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" y="462686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원고 초안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3383280" y="4553712"/>
            <a:ext cx="2578608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11296" y="4626864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체제안 선택</a:t>
            </a:r>
            <a:endParaRPr lang="en-US" sz="1130" dirty="0"/>
          </a:p>
        </p:txBody>
      </p:sp>
      <p:sp>
        <p:nvSpPr>
          <p:cNvPr id="50" name="Shape 48"/>
          <p:cNvSpPr/>
          <p:nvPr/>
        </p:nvSpPr>
        <p:spPr>
          <a:xfrm>
            <a:off x="6172200" y="4553712"/>
            <a:ext cx="217627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0216" y="462686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축소</a:t>
            </a:r>
            <a:endParaRPr lang="en-US" sz="1130" dirty="0"/>
          </a:p>
        </p:txBody>
      </p:sp>
      <p:sp>
        <p:nvSpPr>
          <p:cNvPr id="52" name="Shape 50"/>
          <p:cNvSpPr/>
          <p:nvPr/>
        </p:nvSpPr>
        <p:spPr>
          <a:xfrm>
            <a:off x="8549640" y="4553712"/>
            <a:ext cx="29992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77656" y="46268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전체가 아닌 선택 소단원만 3안으로 생성·비교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640080" y="5221224"/>
            <a:ext cx="25420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" y="529437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자동검증·모의심사</a:t>
            </a:r>
            <a:endParaRPr lang="en-US" sz="1130" dirty="0"/>
          </a:p>
        </p:txBody>
      </p:sp>
      <p:sp>
        <p:nvSpPr>
          <p:cNvPr id="56" name="Shape 54"/>
          <p:cNvSpPr/>
          <p:nvPr/>
        </p:nvSpPr>
        <p:spPr>
          <a:xfrm>
            <a:off x="3383280" y="5221224"/>
            <a:ext cx="257860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11296" y="529437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모의심사</a:t>
            </a:r>
            <a:endParaRPr lang="en-US" sz="1130" dirty="0"/>
          </a:p>
        </p:txBody>
      </p:sp>
      <p:sp>
        <p:nvSpPr>
          <p:cNvPr id="58" name="Shape 56"/>
          <p:cNvSpPr/>
          <p:nvPr/>
        </p:nvSpPr>
        <p:spPr>
          <a:xfrm>
            <a:off x="6172200" y="5221224"/>
            <a:ext cx="217627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0216" y="52943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 + 분기</a:t>
            </a:r>
            <a:endParaRPr lang="en-US" sz="1130" dirty="0"/>
          </a:p>
        </p:txBody>
      </p:sp>
      <p:sp>
        <p:nvSpPr>
          <p:cNvPr id="60" name="Shape 58"/>
          <p:cNvSpPr/>
          <p:nvPr/>
        </p:nvSpPr>
        <p:spPr>
          <a:xfrm>
            <a:off x="8549640" y="5221224"/>
            <a:ext cx="29992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77656" y="52943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검정 22개·고등 인정 20개를 자동 구분</a:t>
            </a:r>
            <a:endParaRPr lang="en-US" sz="1080" dirty="0"/>
          </a:p>
        </p:txBody>
      </p:sp>
      <p:sp>
        <p:nvSpPr>
          <p:cNvPr id="62" name="Text 60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비교 · 프로젝트 설정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예시 입력 화면에서 책 프로젝트와 공식 데이터를 연결하는 시작점으로 바뀌었습니다.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26464"/>
            <a:ext cx="5212080" cy="4517136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709928"/>
            <a:ext cx="658368" cy="310896"/>
          </a:xfrm>
          <a:prstGeom prst="roundRect">
            <a:avLst>
              <a:gd name="adj" fmla="val 47059"/>
            </a:avLst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190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213969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프로젝트 입력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2688" y="2825496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688336"/>
            <a:ext cx="4160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프로젝트명·학교급·학년·교과를 직접 입력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32688" y="3419856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282696"/>
            <a:ext cx="4160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중심의 고정 예시값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932688" y="4014216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877056"/>
            <a:ext cx="4160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쪽수·차시 근거 확인이 별도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32688" y="4608576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471416"/>
            <a:ext cx="4160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 변경 시 저장 단위가 불명확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291072" y="1426464"/>
            <a:ext cx="5239512" cy="4517136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1709928"/>
            <a:ext cx="1024128" cy="310896"/>
          </a:xfrm>
          <a:prstGeom prst="roundRect">
            <a:avLst>
              <a:gd name="adj" fmla="val 47059"/>
            </a:avLst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7190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65392" y="2139696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프로젝트를 먼저 선택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65392" y="2825496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2688336"/>
            <a:ext cx="41879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초·중·고 체육 관련 9개 프로젝트 카탈로그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65392" y="3328416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3191256"/>
            <a:ext cx="41879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학년군 연계 + 학년별 분권 / 고등 단권 구조 구분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65392" y="3831336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3694176"/>
            <a:ext cx="41879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학교급·과목·쪽수·차시를 전처리 데이터로 자동 입력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65392" y="4334256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4197096"/>
            <a:ext cx="41879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PDF 쪽수·인쇄면·추출 원문을 한 번에 확인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65392" y="4837176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4700016"/>
            <a:ext cx="41879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미연결 항목은 빈값·경고로 표시하고 편집 허용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8368" y="6108192"/>
            <a:ext cx="10872216" cy="310896"/>
          </a:xfrm>
          <a:prstGeom prst="roundRect">
            <a:avLst>
              <a:gd name="adj" fmla="val 23529"/>
            </a:avLst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6126480"/>
            <a:ext cx="10378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|  입력부터 시작 → 공식 근거를 확인하고 수정·승인하는 흐름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2~3단계 비교 · 교육과정 확인과 단원 배분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여러 화면을 ‘근거 확인 → 구조 편집’ 두 흐름으로 정리했습니다.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173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운영 버전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987552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" y="2185416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673352" y="2139696"/>
            <a:ext cx="118872" cy="310896"/>
          </a:xfrm>
          <a:prstGeom prst="chevron">
            <a:avLst/>
          </a:prstGeom>
          <a:solidFill>
            <a:srgbClr val="C8D8D0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10512" y="1828800"/>
            <a:ext cx="987552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2185416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성취기준·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 배분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25496" y="2139696"/>
            <a:ext cx="118872" cy="310896"/>
          </a:xfrm>
          <a:prstGeom prst="chevron">
            <a:avLst/>
          </a:prstGeom>
          <a:solidFill>
            <a:srgbClr val="C8D8D0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2656" y="1828800"/>
            <a:ext cx="987552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72384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72384" y="2185416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내용·종목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77640" y="2139696"/>
            <a:ext cx="118872" cy="310896"/>
          </a:xfrm>
          <a:prstGeom prst="chevron">
            <a:avLst/>
          </a:prstGeom>
          <a:solidFill>
            <a:srgbClr val="C8D8D0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828800"/>
            <a:ext cx="987552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24528" y="2185416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목차·쪽수·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 설계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29784" y="2139696"/>
            <a:ext cx="118872" cy="310896"/>
          </a:xfrm>
          <a:prstGeom prst="chevron">
            <a:avLst/>
          </a:prstGeom>
          <a:solidFill>
            <a:srgbClr val="C8D8D0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66944" y="1828800"/>
            <a:ext cx="987552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76672" y="2185416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설계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" y="2990088"/>
            <a:ext cx="5687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단계별로 분리되어 차시·쪽수 조정 시 왕복이 많음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6510528" y="14173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10528" y="1828800"/>
            <a:ext cx="1965960" cy="987552"/>
          </a:xfrm>
          <a:prstGeom prst="roundRect">
            <a:avLst>
              <a:gd name="adj" fmla="val 10185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0256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20256" y="2185416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 확인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668512" y="2075688"/>
            <a:ext cx="438912" cy="475488"/>
          </a:xfrm>
          <a:prstGeom prst="chevron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90304" y="1828800"/>
            <a:ext cx="2240280" cy="987552"/>
          </a:xfrm>
          <a:prstGeom prst="roundRect">
            <a:avLst>
              <a:gd name="adj" fmla="val 10185"/>
            </a:avLst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0032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400032" y="2185416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단원·차시 배분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510528" y="2990088"/>
            <a:ext cx="502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성취기준·해설·내용 요소·신체활동 예시를 확인한 뒤 같은 카드 구조에서 편집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658368" y="3767328"/>
            <a:ext cx="10872216" cy="2212848"/>
          </a:xfrm>
          <a:prstGeom prst="roundRect">
            <a:avLst>
              <a:gd name="adj" fmla="val 6612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041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프로토타입에서 추가된 편집 방식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32688" y="452628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4535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편집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32688" y="495604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대·중·소단원과 차시·쪽수를 한 화면에서 조정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3547872" y="452628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7872" y="4535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이동·복사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547872" y="495604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집필 회의 중 구조를 빠르게 재배치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6163056" y="452628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E8775D"/>
          </a:solidFill>
          <a:ln w="12700">
            <a:solidFill>
              <a:srgbClr val="E877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3056" y="4535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배열표 미리보기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63056" y="495604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쪽수 합계와 페이지 배치를 즉시 확인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8778240" y="452628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78240" y="4535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내보내기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778240" y="495604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회의·검토용 데이터를 별도 활용</a:t>
            </a:r>
            <a:endParaRPr lang="en-US" sz="1120" dirty="0"/>
          </a:p>
        </p:txBody>
      </p:sp>
      <p:sp>
        <p:nvSpPr>
          <p:cNvPr id="50" name="Text 48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비교 · 체제안과 원고 초안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목차·성취기준 안에서 구성 요소와 활동만 다르게 생성해 비교합니다.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788920" cy="4553712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09928"/>
            <a:ext cx="658368" cy="310896"/>
          </a:xfrm>
          <a:prstGeom prst="roundRect">
            <a:avLst>
              <a:gd name="adj" fmla="val 47059"/>
            </a:avLst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190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13969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방향을 먼저 선택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97480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구조 확정 전 3개 방향 제시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14400" y="3438144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300984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옵션별 결과 차이를 미리 보기 어려움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14400" y="4041648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04488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2개 형식으로 비슷하게 보임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14400" y="4645152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507992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원고 생성 시 API 사용량 증가 가능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3639312" y="3255264"/>
            <a:ext cx="548640" cy="685800"/>
          </a:xfrm>
          <a:prstGeom prst="chevron">
            <a:avLst/>
          </a:prstGeom>
          <a:solidFill>
            <a:srgbClr val="E8775D"/>
          </a:solidFill>
          <a:ln w="12700">
            <a:solidFill>
              <a:srgbClr val="E8775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7408" y="1417320"/>
            <a:ext cx="7132320" cy="4553712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1709928"/>
            <a:ext cx="1024128" cy="310896"/>
          </a:xfrm>
          <a:prstGeom prst="roundRect">
            <a:avLst>
              <a:gd name="adj" fmla="val 47059"/>
            </a:avLst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7190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81728" y="2139696"/>
            <a:ext cx="6199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소단원 하나를 3안으로 동시 비교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81728" y="2761488"/>
            <a:ext cx="1901952" cy="1536192"/>
          </a:xfrm>
          <a:prstGeom prst="roundRect">
            <a:avLst>
              <a:gd name="adj" fmla="val 8333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44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심사통과형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846320" y="3410712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성취기준·필수 요소를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명확하게 드러내는 구성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30568" y="2761488"/>
            <a:ext cx="1901952" cy="1536192"/>
          </a:xfrm>
          <a:prstGeom prst="roundRect">
            <a:avLst>
              <a:gd name="adj" fmla="val 8333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944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학교실행형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95160" y="3410712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시간·준비물·안전을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 맞춘 구성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979408" y="2761488"/>
            <a:ext cx="1901952" cy="1536192"/>
          </a:xfrm>
          <a:prstGeom prst="roundRect">
            <a:avLst>
              <a:gd name="adj" fmla="val 8333"/>
            </a:avLst>
          </a:prstGeom>
          <a:solidFill>
            <a:srgbClr val="FBE8E2"/>
          </a:solidFill>
          <a:ln w="12700">
            <a:solidFill>
              <a:srgbClr val="FBE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2944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창의형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144000" y="3410712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재미와 참신한 활동을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강화한 구성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882896" y="4709160"/>
            <a:ext cx="5897880" cy="0"/>
          </a:xfrm>
          <a:prstGeom prst="line">
            <a:avLst/>
          </a:prstGeom>
          <a:noFill/>
          <a:ln w="25400">
            <a:solidFill>
              <a:srgbClr val="C8D8D0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583680" y="481888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안 승인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532120" y="519379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선택안을 확정하고 생성 이력은 PPT로 내려받아 검토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6117336"/>
            <a:ext cx="10899648" cy="292608"/>
          </a:xfrm>
          <a:prstGeom prst="roundRect">
            <a:avLst>
              <a:gd name="adj" fmla="val 25000"/>
            </a:avLst>
          </a:prstGeom>
          <a:solidFill>
            <a:srgbClr val="FAF1D9"/>
          </a:solidFill>
          <a:ln w="12700">
            <a:solidFill>
              <a:srgbClr val="FAF1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612648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8A68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원칙  |  전체 책이 아니라 사용자가 지정한 소단원만 생성</a:t>
            </a:r>
            <a:endParaRPr lang="en-US" sz="1180" dirty="0"/>
          </a:p>
        </p:txBody>
      </p:sp>
      <p:sp>
        <p:nvSpPr>
          <p:cNvPr id="37" name="Text 35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비교 · 프로젝트별 모의심사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기능을 건드리지 않고 선택 교과의 공식 심사기준 적용 흐름을 검증합니다.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99032"/>
            <a:ext cx="2926080" cy="502920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08760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94760" y="1399032"/>
            <a:ext cx="2487168" cy="502920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22776" y="1508760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운영 버전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1399032"/>
            <a:ext cx="2487168" cy="502920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1508760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프로토타입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89720" y="1399032"/>
            <a:ext cx="2359152" cy="502920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17736" y="15087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1901952"/>
            <a:ext cx="2926080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1965960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구조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94760" y="1901952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22776" y="1965960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서버·DB 기반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6492240" y="1901952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1965960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HTML/CSS/JS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9189720" y="1901952"/>
            <a:ext cx="2359152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17736" y="196596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검증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658368" y="2532888"/>
            <a:ext cx="292608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2596896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94760" y="2532888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596896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DB·협업 데이터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6492240" y="2532888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0256" y="2596896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localStorage</a:t>
            </a:r>
            <a:endParaRPr lang="en-US" sz="1090" dirty="0"/>
          </a:p>
        </p:txBody>
      </p:sp>
      <p:sp>
        <p:nvSpPr>
          <p:cNvPr id="28" name="Shape 26"/>
          <p:cNvSpPr/>
          <p:nvPr/>
        </p:nvSpPr>
        <p:spPr>
          <a:xfrm>
            <a:off x="9189720" y="2532888"/>
            <a:ext cx="23591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17736" y="259689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전용</a:t>
            </a:r>
            <a:endParaRPr lang="en-US" sz="1090" dirty="0"/>
          </a:p>
        </p:txBody>
      </p:sp>
      <p:sp>
        <p:nvSpPr>
          <p:cNvPr id="30" name="Shape 28"/>
          <p:cNvSpPr/>
          <p:nvPr/>
        </p:nvSpPr>
        <p:spPr>
          <a:xfrm>
            <a:off x="658368" y="3163824"/>
            <a:ext cx="2926080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322783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로그인·권한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794760" y="3163824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22776" y="3227832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로그인/역할 연계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6492240" y="3163824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0256" y="3227832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역할·승인 흐름 시뮬레이션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9189720" y="3163824"/>
            <a:ext cx="2359152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17736" y="322783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검증</a:t>
            </a:r>
            <a:endParaRPr lang="en-US" sz="1090" dirty="0"/>
          </a:p>
        </p:txBody>
      </p:sp>
      <p:sp>
        <p:nvSpPr>
          <p:cNvPr id="38" name="Shape 36"/>
          <p:cNvSpPr/>
          <p:nvPr/>
        </p:nvSpPr>
        <p:spPr>
          <a:xfrm>
            <a:off x="658368" y="3794760"/>
            <a:ext cx="292608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3858768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794760" y="3794760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22776" y="3858768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연계 가능</a:t>
            </a:r>
            <a:endParaRPr lang="en-US" sz="1090" dirty="0"/>
          </a:p>
        </p:txBody>
      </p:sp>
      <p:sp>
        <p:nvSpPr>
          <p:cNvPr id="42" name="Shape 40"/>
          <p:cNvSpPr/>
          <p:nvPr/>
        </p:nvSpPr>
        <p:spPr>
          <a:xfrm>
            <a:off x="6492240" y="3794760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3858768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더미 3안 생성</a:t>
            </a:r>
            <a:endParaRPr lang="en-US" sz="1090" dirty="0"/>
          </a:p>
        </p:txBody>
      </p:sp>
      <p:sp>
        <p:nvSpPr>
          <p:cNvPr id="44" name="Shape 42"/>
          <p:cNvSpPr/>
          <p:nvPr/>
        </p:nvSpPr>
        <p:spPr>
          <a:xfrm>
            <a:off x="9189720" y="3794760"/>
            <a:ext cx="23591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17736" y="385876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미호출</a:t>
            </a:r>
            <a:endParaRPr lang="en-US" sz="1090" dirty="0"/>
          </a:p>
        </p:txBody>
      </p:sp>
      <p:sp>
        <p:nvSpPr>
          <p:cNvPr id="46" name="Shape 44"/>
          <p:cNvSpPr/>
          <p:nvPr/>
        </p:nvSpPr>
        <p:spPr>
          <a:xfrm>
            <a:off x="658368" y="4425696"/>
            <a:ext cx="2926080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" y="4489704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공식자료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794760" y="4425696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22776" y="4489704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기능별 연결</a:t>
            </a:r>
            <a:endParaRPr lang="en-US" sz="1090" dirty="0"/>
          </a:p>
        </p:txBody>
      </p:sp>
      <p:sp>
        <p:nvSpPr>
          <p:cNvPr id="50" name="Shape 48"/>
          <p:cNvSpPr/>
          <p:nvPr/>
        </p:nvSpPr>
        <p:spPr>
          <a:xfrm>
            <a:off x="6492240" y="4425696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0256" y="4489704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전처리값·원문·원본 쪽수 표시</a:t>
            </a:r>
            <a:endParaRPr lang="en-US" sz="1090" dirty="0"/>
          </a:p>
        </p:txBody>
      </p:sp>
      <p:sp>
        <p:nvSpPr>
          <p:cNvPr id="52" name="Shape 50"/>
          <p:cNvSpPr/>
          <p:nvPr/>
        </p:nvSpPr>
        <p:spPr>
          <a:xfrm>
            <a:off x="9189720" y="4425696"/>
            <a:ext cx="2359152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17736" y="448970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추적성 강화</a:t>
            </a:r>
            <a:endParaRPr lang="en-US" sz="1090" dirty="0"/>
          </a:p>
        </p:txBody>
      </p:sp>
      <p:sp>
        <p:nvSpPr>
          <p:cNvPr id="54" name="Shape 52"/>
          <p:cNvSpPr/>
          <p:nvPr/>
        </p:nvSpPr>
        <p:spPr>
          <a:xfrm>
            <a:off x="658368" y="5056632"/>
            <a:ext cx="292608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6384" y="5120640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문서·심사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794760" y="5056632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22776" y="5120640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검정기준 중심</a:t>
            </a:r>
            <a:endParaRPr lang="en-US" sz="1090" dirty="0"/>
          </a:p>
        </p:txBody>
      </p:sp>
      <p:sp>
        <p:nvSpPr>
          <p:cNvPr id="58" name="Shape 56"/>
          <p:cNvSpPr/>
          <p:nvPr/>
        </p:nvSpPr>
        <p:spPr>
          <a:xfrm>
            <a:off x="6492240" y="5056632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20256" y="5120640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검정 22개·고등 인정 20개</a:t>
            </a:r>
            <a:endParaRPr lang="en-US" sz="1090" dirty="0"/>
          </a:p>
        </p:txBody>
      </p:sp>
      <p:sp>
        <p:nvSpPr>
          <p:cNvPr id="60" name="Shape 58"/>
          <p:cNvSpPr/>
          <p:nvPr/>
        </p:nvSpPr>
        <p:spPr>
          <a:xfrm>
            <a:off x="9189720" y="5056632"/>
            <a:ext cx="23591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17736" y="512064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API 채점</a:t>
            </a:r>
            <a:endParaRPr lang="en-US" sz="1090" dirty="0"/>
          </a:p>
        </p:txBody>
      </p:sp>
      <p:sp>
        <p:nvSpPr>
          <p:cNvPr id="62" name="Shape 60"/>
          <p:cNvSpPr/>
          <p:nvPr/>
        </p:nvSpPr>
        <p:spPr>
          <a:xfrm>
            <a:off x="658368" y="5907024"/>
            <a:ext cx="10890504" cy="438912"/>
          </a:xfrm>
          <a:prstGeom prst="roundRect">
            <a:avLst>
              <a:gd name="adj" fmla="val 20833"/>
            </a:avLst>
          </a:prstGeom>
          <a:solidFill>
            <a:srgbClr val="FBE8E2"/>
          </a:solidFill>
          <a:ln w="12700">
            <a:solidFill>
              <a:srgbClr val="FBE8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6112" y="5961888"/>
            <a:ext cx="10405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|  3안 생성은 시뮬레이션이며, PDF 모의심사는 API 키와 사용 가능한 크레딧이 필요합니다.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5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94360"/>
            <a:ext cx="1078992" cy="310896"/>
          </a:xfrm>
          <a:prstGeom prst="roundRect">
            <a:avLst>
              <a:gd name="adj" fmla="val 47059"/>
            </a:avLst>
          </a:prstGeom>
          <a:solidFill>
            <a:srgbClr val="E8775D"/>
          </a:solidFill>
          <a:ln w="12700">
            <a:solidFill>
              <a:srgbClr val="E877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0350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188720"/>
            <a:ext cx="10515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프로토타입이 바꾼 것은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‘기능의 수’보다 ‘결정의 순서’입니다.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834640"/>
            <a:ext cx="2487168" cy="2157984"/>
          </a:xfrm>
          <a:prstGeom prst="roundRect">
            <a:avLst>
              <a:gd name="adj" fmla="val 6780"/>
            </a:avLst>
          </a:prstGeom>
          <a:solidFill>
            <a:srgbClr val="2A6A52"/>
          </a:solidFill>
          <a:ln w="12700">
            <a:solidFill>
              <a:srgbClr val="2A6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30358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9536" y="35295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근거부터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40782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선택 시 공식자료와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위치를 함께 확인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474720" y="2834640"/>
            <a:ext cx="2487168" cy="2157984"/>
          </a:xfrm>
          <a:prstGeom prst="roundRect">
            <a:avLst>
              <a:gd name="adj" fmla="val 6780"/>
            </a:avLst>
          </a:prstGeom>
          <a:solidFill>
            <a:srgbClr val="2A6A52"/>
          </a:solidFill>
          <a:ln w="12700">
            <a:solidFill>
              <a:srgbClr val="2A6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30358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75888" y="35295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 먼저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75888" y="40782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단원·차시·쪽수를 정한 뒤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방향을 비교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291072" y="2834640"/>
            <a:ext cx="2487168" cy="2157984"/>
          </a:xfrm>
          <a:prstGeom prst="roundRect">
            <a:avLst>
              <a:gd name="adj" fmla="val 6780"/>
            </a:avLst>
          </a:prstGeom>
          <a:solidFill>
            <a:srgbClr val="E8775D"/>
          </a:solidFill>
          <a:ln w="12700">
            <a:solidFill>
              <a:srgbClr val="E877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0358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35295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생성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40782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소단원만 3안으로 만들어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비용과 검토량을 통제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9107424" y="2834640"/>
            <a:ext cx="2487168" cy="2157984"/>
          </a:xfrm>
          <a:prstGeom prst="roundRect">
            <a:avLst>
              <a:gd name="adj" fmla="val 6780"/>
            </a:avLst>
          </a:prstGeom>
          <a:solidFill>
            <a:srgbClr val="2A6A52"/>
          </a:solidFill>
          <a:ln w="12700">
            <a:solidFill>
              <a:srgbClr val="2A6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30358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08592" y="35295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후 확장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08592" y="40782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UX만 운영 버전에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단계적으로 반영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58368" y="5577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결정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64208" y="5504688"/>
            <a:ext cx="9646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흐름을 확정한 뒤 실제 API·권한·모의심사 연결 범위를 정한다.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73968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YBM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기존 버전 vs 프로토타입</dc:title>
  <dc:subject>기존 운영 버전과 프로토타입의 단계 및 기능 비교</dc:subject>
  <dc:creator>AI Textbook Studio</dc:creator>
  <cp:lastModifiedBy>AI Textbook Studio</cp:lastModifiedBy>
  <cp:revision>1</cp:revision>
  <dcterms:created xsi:type="dcterms:W3CDTF">2026-08-12T00:55:14Z</dcterms:created>
  <dcterms:modified xsi:type="dcterms:W3CDTF">2026-08-12T00:55:14Z</dcterms:modified>
</cp:coreProperties>
</file>