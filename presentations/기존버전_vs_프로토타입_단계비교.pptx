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이번 발표는 기존 운영 버전의 장점을 버리는 것이 아니라, 초기 기획 단계의 판단 비용을 줄이는 프로토타입 구조가 무엇이 다른지 설명합니다.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프로토타입은 9개 화면을 단순히 5개로 축약한 것이 아닙니다. 언제 무엇을 결정해야 하는지를 사용자의 실제 교과서 개발 순서에 맞췄습니다.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기존 3단계의 개발 방향은 비교할 단원 구조가 정해지기 전에 등장했습니다. 프로토타입에서는 단원과 차시를 먼저 확정하고 4단계에서 체제안을 비교합니다.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이 표는 기존 기능이 삭제되었는지, 통합되었는지, 순서가 이동했는지를 설명하기 위한 핵심 슬라이드입니다.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1단계에서는 전처리 자료가 있는 값과 없는 값을 명확히 구분합니다. 공식자료가 없으면 임의값을 사실처럼 보여주지 않고 경고와 함께 사용자가 입력할 수 있게 했습니다.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프로토타입의 2단계는 교육과정 전체를 확인하는 곳이고, 3단계는 실제 단원 구조와 차시를 함께 편집하는 곳입니다. 기존 5개 단계의 왕복을 줄였습니다.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3안은 목차와 성취기준을 바꾸는 것이 아닙니다. 같은 소단원에서 페이지 구성과 활동 내용의 강조점을 달리해 비교합니다. 현재는 더미 생성이며 실제 API는 연결하지 않았습니다.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현재 프로토타입은 실제 서비스 대체물이 아닙니다. 서버, DB, 로그인, 실제 AI 호출은 연결하지 않은 상태에서 승인된 UX만 운영 화면에 옮기기 위한 검증판입니다.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결론적으로 프로토타입은 공식 근거 확인, 구조 설계, 3안 비교, 승인 후 편집이라는 순서를 검증합니다. 다음 단계는 이 흐름의 승인 여부를 정하는 것입니다.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206240" cy="685800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21792" y="603504"/>
            <a:ext cx="2971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</a:t>
            </a:r>
            <a:endParaRPr lang="en-US" sz="1500" dirty="0"/>
          </a:p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STUDIO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21792" y="3913632"/>
            <a:ext cx="25603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9단계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40080" y="4462272"/>
            <a:ext cx="2377440" cy="0"/>
          </a:xfrm>
          <a:prstGeom prst="line">
            <a:avLst/>
          </a:prstGeom>
          <a:noFill/>
          <a:ln w="50800">
            <a:solidFill>
              <a:srgbClr val="E8775D"/>
            </a:solidFill>
            <a:prstDash val="solid"/>
            <a:headEnd type="none"/>
            <a:tailEnd type="triangle"/>
          </a:ln>
        </p:spPr>
      </p:sp>
      <p:sp>
        <p:nvSpPr>
          <p:cNvPr id="6" name="Text 4"/>
          <p:cNvSpPr/>
          <p:nvPr/>
        </p:nvSpPr>
        <p:spPr>
          <a:xfrm>
            <a:off x="621792" y="4645152"/>
            <a:ext cx="2971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5단계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621792" y="5605272"/>
            <a:ext cx="2971800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단계를 줄이고, 판단 근거와 비교 과정을 강화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800600" y="941832"/>
            <a:ext cx="1700784" cy="310896"/>
          </a:xfrm>
          <a:prstGeom prst="roundRect">
            <a:avLst>
              <a:gd name="adj" fmla="val 47059"/>
            </a:avLst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800600" y="950976"/>
            <a:ext cx="1700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VERSION COMPARISON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800600" y="1481328"/>
            <a:ext cx="6446520" cy="2057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버전과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프로토타입은</a:t>
            </a:r>
            <a:endParaRPr lang="en-US" sz="3500" dirty="0"/>
          </a:p>
          <a:p>
            <a:pPr algn="l" indent="0" marL="0">
              <a:buNone/>
            </a:pPr>
            <a:r>
              <a:rPr lang="en-US" sz="3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무엇이 달라졌나</a:t>
            </a:r>
            <a:endParaRPr lang="en-US" sz="3500" dirty="0"/>
          </a:p>
        </p:txBody>
      </p:sp>
      <p:sp>
        <p:nvSpPr>
          <p:cNvPr id="11" name="Text 9"/>
          <p:cNvSpPr/>
          <p:nvPr/>
        </p:nvSpPr>
        <p:spPr>
          <a:xfrm>
            <a:off x="4828032" y="3858768"/>
            <a:ext cx="6126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구조 · 공식 근거 · 3개 초안 비교 · 협업 권한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28032" y="59893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2026. 08. 12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한눈에 보는 변화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화면 수를 줄인 것이 아니라 의사결정 순서를 다시 설계했습니다.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508760"/>
            <a:ext cx="3401568" cy="1572768"/>
          </a:xfrm>
          <a:prstGeom prst="roundRect">
            <a:avLst>
              <a:gd name="adj" fmla="val 930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7824" y="1673352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→ 5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877824" y="227685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통합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77824" y="2624328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분석·배분·목차 설계를 묶어 중복 이동 축소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508760"/>
            <a:ext cx="3401568" cy="1572768"/>
          </a:xfrm>
          <a:prstGeom prst="roundRect">
            <a:avLst>
              <a:gd name="adj" fmla="val 9302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08576" y="1673352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앞 → 뒤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608576" y="227685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방향 결정 시점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608576" y="2624328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단원·소단원 구조를 정한 뒤 3개 체제안 비교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8119872" y="1508760"/>
            <a:ext cx="3401568" cy="1572768"/>
          </a:xfrm>
          <a:prstGeom prst="roundRect">
            <a:avLst>
              <a:gd name="adj" fmla="val 9302"/>
            </a:avLst>
          </a:prstGeom>
          <a:solidFill>
            <a:srgbClr val="FAF1D9"/>
          </a:solidFill>
          <a:ln w="12700">
            <a:solidFill>
              <a:srgbClr val="FAF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339328" y="1673352"/>
            <a:ext cx="296265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A4771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→ 선택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8339328" y="2276856"/>
            <a:ext cx="29626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초안 생성 범위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339328" y="2624328"/>
            <a:ext cx="296265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선택한 소단원만 3안 생성해 API 비용 통제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658368" y="3429000"/>
            <a:ext cx="10863072" cy="2359152"/>
          </a:xfrm>
          <a:prstGeom prst="roundRect">
            <a:avLst>
              <a:gd name="adj" fmla="val 6202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32688" y="3675888"/>
            <a:ext cx="2057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프로토타입의 핵심 원칙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932688" y="4251960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15568" y="4114800"/>
            <a:ext cx="9829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 전처리 데이터가 먼저 들어오고, 사용자가 원문·원본 쪽수를 확인</a:t>
            </a:r>
            <a:endParaRPr lang="en-US" sz="1350" dirty="0"/>
          </a:p>
        </p:txBody>
      </p:sp>
      <p:sp>
        <p:nvSpPr>
          <p:cNvPr id="22" name="Shape 20"/>
          <p:cNvSpPr/>
          <p:nvPr/>
        </p:nvSpPr>
        <p:spPr>
          <a:xfrm>
            <a:off x="932688" y="4754880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15568" y="4617720"/>
            <a:ext cx="9829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동일한 목차와 성취기준을 고정한 채 심사통과형·학교실행형·창의형을 비교</a:t>
            </a:r>
            <a:endParaRPr lang="en-US" sz="1350" dirty="0"/>
          </a:p>
        </p:txBody>
      </p:sp>
      <p:sp>
        <p:nvSpPr>
          <p:cNvPr id="24" name="Shape 22"/>
          <p:cNvSpPr/>
          <p:nvPr/>
        </p:nvSpPr>
        <p:spPr>
          <a:xfrm>
            <a:off x="932688" y="5257800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15568" y="5120640"/>
            <a:ext cx="9829800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팀장 승인 전에는 수정 가능, 승인 후에는 잠금되는 협업 흐름을 시뮬레이션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 구조 비교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분절된 설계를 프로토타입에서는 두 개의 핵심 설계 단계로 통합했습니다.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21792" y="1426464"/>
            <a:ext cx="1371600" cy="310896"/>
          </a:xfrm>
          <a:prstGeom prst="roundRect">
            <a:avLst>
              <a:gd name="adj" fmla="val 47059"/>
            </a:avLst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1435608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운영 버전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21792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731520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설정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1865376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75104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75104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108960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18688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3218688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방향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4352544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462272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4462272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배분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596128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705856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5705856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내용·종목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6839712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6949440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목차·쪽수·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설계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8083296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193024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8193024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설계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9326880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436608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436608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초안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10570464" y="1856232"/>
            <a:ext cx="1060704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680192" y="1965960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10680192" y="2212848"/>
            <a:ext cx="84124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자동검증·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모의심사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5559552" y="3090672"/>
            <a:ext cx="1051560" cy="502920"/>
          </a:xfrm>
          <a:prstGeom prst="chevron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0" y="3602736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통합·이동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621792" y="4041648"/>
            <a:ext cx="1133856" cy="310896"/>
          </a:xfrm>
          <a:prstGeom prst="roundRect">
            <a:avLst>
              <a:gd name="adj" fmla="val 47059"/>
            </a:avLst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050792"/>
            <a:ext cx="113385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621792" y="4480560"/>
            <a:ext cx="1417320" cy="1078992"/>
          </a:xfrm>
          <a:prstGeom prst="roundRect">
            <a:avLst>
              <a:gd name="adj" fmla="val 932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31520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950" dirty="0"/>
          </a:p>
        </p:txBody>
      </p:sp>
      <p:sp>
        <p:nvSpPr>
          <p:cNvPr id="41" name="Text 39"/>
          <p:cNvSpPr/>
          <p:nvPr/>
        </p:nvSpPr>
        <p:spPr>
          <a:xfrm>
            <a:off x="731520" y="4837176"/>
            <a:ext cx="11978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설정</a:t>
            </a:r>
            <a:endParaRPr lang="en-US" sz="1150" dirty="0"/>
          </a:p>
        </p:txBody>
      </p:sp>
      <p:sp>
        <p:nvSpPr>
          <p:cNvPr id="42" name="Shape 40"/>
          <p:cNvSpPr/>
          <p:nvPr/>
        </p:nvSpPr>
        <p:spPr>
          <a:xfrm>
            <a:off x="2240280" y="4480560"/>
            <a:ext cx="1874520" cy="1078992"/>
          </a:xfrm>
          <a:prstGeom prst="roundRect">
            <a:avLst>
              <a:gd name="adj" fmla="val 932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350008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44" name="Text 42"/>
          <p:cNvSpPr/>
          <p:nvPr/>
        </p:nvSpPr>
        <p:spPr>
          <a:xfrm>
            <a:off x="2350008" y="4837176"/>
            <a:ext cx="165506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 확인</a:t>
            </a:r>
            <a:endParaRPr lang="en-US" sz="1150" dirty="0"/>
          </a:p>
        </p:txBody>
      </p:sp>
      <p:sp>
        <p:nvSpPr>
          <p:cNvPr id="45" name="Shape 43"/>
          <p:cNvSpPr/>
          <p:nvPr/>
        </p:nvSpPr>
        <p:spPr>
          <a:xfrm>
            <a:off x="4315968" y="4480560"/>
            <a:ext cx="2286000" cy="1078992"/>
          </a:xfrm>
          <a:prstGeom prst="roundRect">
            <a:avLst>
              <a:gd name="adj" fmla="val 932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425696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47" name="Text 45"/>
          <p:cNvSpPr/>
          <p:nvPr/>
        </p:nvSpPr>
        <p:spPr>
          <a:xfrm>
            <a:off x="4425696" y="4837176"/>
            <a:ext cx="206654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단원·차시 배분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6803136" y="4480560"/>
            <a:ext cx="1901952" cy="1078992"/>
          </a:xfrm>
          <a:prstGeom prst="roundRect">
            <a:avLst>
              <a:gd name="adj" fmla="val 9322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912864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50" name="Text 48"/>
          <p:cNvSpPr/>
          <p:nvPr/>
        </p:nvSpPr>
        <p:spPr>
          <a:xfrm>
            <a:off x="6912864" y="4837176"/>
            <a:ext cx="16824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체제안 선택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8906256" y="4480560"/>
            <a:ext cx="1691640" cy="1078992"/>
          </a:xfrm>
          <a:prstGeom prst="roundRect">
            <a:avLst>
              <a:gd name="adj" fmla="val 9322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9015984" y="459028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53" name="Text 51"/>
          <p:cNvSpPr/>
          <p:nvPr/>
        </p:nvSpPr>
        <p:spPr>
          <a:xfrm>
            <a:off x="9015984" y="4837176"/>
            <a:ext cx="147218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원고 편집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10241280" y="4480560"/>
            <a:ext cx="1298448" cy="1078992"/>
          </a:xfrm>
          <a:prstGeom prst="roundRect">
            <a:avLst>
              <a:gd name="adj" fmla="val 9322"/>
            </a:avLst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0369296" y="4590288"/>
            <a:ext cx="365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</a:t>
            </a:r>
            <a:endParaRPr lang="en-US" sz="950" dirty="0"/>
          </a:p>
        </p:txBody>
      </p:sp>
      <p:sp>
        <p:nvSpPr>
          <p:cNvPr id="56" name="Text 54"/>
          <p:cNvSpPr/>
          <p:nvPr/>
        </p:nvSpPr>
        <p:spPr>
          <a:xfrm>
            <a:off x="10369296" y="4855464"/>
            <a:ext cx="103327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모의심사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연결 예정</a:t>
            </a:r>
            <a:endParaRPr lang="en-US" sz="1150" dirty="0"/>
          </a:p>
        </p:txBody>
      </p:sp>
      <p:sp>
        <p:nvSpPr>
          <p:cNvPr id="57" name="Text 55"/>
          <p:cNvSpPr/>
          <p:nvPr/>
        </p:nvSpPr>
        <p:spPr>
          <a:xfrm>
            <a:off x="658368" y="58795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가장 큰 변화</a:t>
            </a:r>
            <a:endParaRPr lang="en-US" sz="1100" dirty="0"/>
          </a:p>
        </p:txBody>
      </p:sp>
      <p:sp>
        <p:nvSpPr>
          <p:cNvPr id="58" name="Text 56"/>
          <p:cNvSpPr/>
          <p:nvPr/>
        </p:nvSpPr>
        <p:spPr>
          <a:xfrm>
            <a:off x="1700784" y="5824728"/>
            <a:ext cx="9555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방향(기존 3단계)을 단원·목차가 정해진 뒤로 이동해 실제 초안 차이를 비교할 수 있게 함</a:t>
            </a:r>
            <a:endParaRPr lang="en-US" sz="1300" dirty="0"/>
          </a:p>
        </p:txBody>
      </p:sp>
      <p:sp>
        <p:nvSpPr>
          <p:cNvPr id="59" name="Text 57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60" name="Text 58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단계가 어디로 이동했나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유지·통합·이동·후속 연결을 기준으로 매핑했습니다.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389888"/>
            <a:ext cx="2542032" cy="493776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481328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단계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383280" y="1389888"/>
            <a:ext cx="2578608" cy="493776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11296" y="1481328"/>
            <a:ext cx="23225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172200" y="1389888"/>
            <a:ext cx="2176272" cy="493776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0216" y="148132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처리 방식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549640" y="1389888"/>
            <a:ext cx="2999232" cy="493776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677656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달라진 판단 기준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40080" y="1883664"/>
            <a:ext cx="25420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68096" y="195681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프로젝트 설정</a:t>
            </a:r>
            <a:endParaRPr lang="en-US" sz="1130" dirty="0"/>
          </a:p>
        </p:txBody>
      </p:sp>
      <p:sp>
        <p:nvSpPr>
          <p:cNvPr id="16" name="Shape 14"/>
          <p:cNvSpPr/>
          <p:nvPr/>
        </p:nvSpPr>
        <p:spPr>
          <a:xfrm>
            <a:off x="3383280" y="1883664"/>
            <a:ext cx="2578608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11296" y="195681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 프로젝트 설정</a:t>
            </a:r>
            <a:endParaRPr lang="en-US" sz="1130" dirty="0"/>
          </a:p>
        </p:txBody>
      </p:sp>
      <p:sp>
        <p:nvSpPr>
          <p:cNvPr id="18" name="Shape 16"/>
          <p:cNvSpPr/>
          <p:nvPr/>
        </p:nvSpPr>
        <p:spPr>
          <a:xfrm>
            <a:off x="6172200" y="1883664"/>
            <a:ext cx="217627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300216" y="195681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유지 + 확장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8549640" y="1883664"/>
            <a:ext cx="29992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677656" y="195681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프로젝트·분권 구조·공식 근거 자동 연결</a:t>
            </a:r>
            <a:endParaRPr lang="en-US" sz="1080" dirty="0"/>
          </a:p>
        </p:txBody>
      </p:sp>
      <p:sp>
        <p:nvSpPr>
          <p:cNvPr id="22" name="Shape 20"/>
          <p:cNvSpPr/>
          <p:nvPr/>
        </p:nvSpPr>
        <p:spPr>
          <a:xfrm>
            <a:off x="640080" y="2551176"/>
            <a:ext cx="25420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8096" y="2624328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교육과정 분석</a:t>
            </a:r>
            <a:endParaRPr lang="en-US" sz="1130" dirty="0"/>
          </a:p>
        </p:txBody>
      </p:sp>
      <p:sp>
        <p:nvSpPr>
          <p:cNvPr id="24" name="Shape 22"/>
          <p:cNvSpPr/>
          <p:nvPr/>
        </p:nvSpPr>
        <p:spPr>
          <a:xfrm>
            <a:off x="3383280" y="2551176"/>
            <a:ext cx="257860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511296" y="2624328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 교육과정 확인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6172200" y="2551176"/>
            <a:ext cx="217627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300216" y="2624328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재정의</a:t>
            </a:r>
            <a:endParaRPr lang="en-US" sz="1130" dirty="0"/>
          </a:p>
        </p:txBody>
      </p:sp>
      <p:sp>
        <p:nvSpPr>
          <p:cNvPr id="28" name="Shape 26"/>
          <p:cNvSpPr/>
          <p:nvPr/>
        </p:nvSpPr>
        <p:spPr>
          <a:xfrm>
            <a:off x="8549640" y="2551176"/>
            <a:ext cx="29992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677656" y="2624328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 작업보다 성취기준·해설·예시 확인에 집중</a:t>
            </a:r>
            <a:endParaRPr lang="en-US" sz="1080" dirty="0"/>
          </a:p>
        </p:txBody>
      </p:sp>
      <p:sp>
        <p:nvSpPr>
          <p:cNvPr id="30" name="Shape 28"/>
          <p:cNvSpPr/>
          <p:nvPr/>
        </p:nvSpPr>
        <p:spPr>
          <a:xfrm>
            <a:off x="640080" y="3218688"/>
            <a:ext cx="25420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68096" y="3291840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4·5·6·7</a:t>
            </a:r>
            <a:endParaRPr lang="en-US" sz="1130" dirty="0"/>
          </a:p>
        </p:txBody>
      </p:sp>
      <p:sp>
        <p:nvSpPr>
          <p:cNvPr id="32" name="Shape 30"/>
          <p:cNvSpPr/>
          <p:nvPr/>
        </p:nvSpPr>
        <p:spPr>
          <a:xfrm>
            <a:off x="3383280" y="3218688"/>
            <a:ext cx="2578608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11296" y="3291840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단원·차시 배분</a:t>
            </a:r>
            <a:endParaRPr lang="en-US" sz="1130" dirty="0"/>
          </a:p>
        </p:txBody>
      </p:sp>
      <p:sp>
        <p:nvSpPr>
          <p:cNvPr id="34" name="Shape 32"/>
          <p:cNvSpPr/>
          <p:nvPr/>
        </p:nvSpPr>
        <p:spPr>
          <a:xfrm>
            <a:off x="6172200" y="3218688"/>
            <a:ext cx="217627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00216" y="3291840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통합</a:t>
            </a:r>
            <a:endParaRPr lang="en-US" sz="1130" dirty="0"/>
          </a:p>
        </p:txBody>
      </p:sp>
      <p:sp>
        <p:nvSpPr>
          <p:cNvPr id="36" name="Shape 34"/>
          <p:cNvSpPr/>
          <p:nvPr/>
        </p:nvSpPr>
        <p:spPr>
          <a:xfrm>
            <a:off x="8549640" y="3218688"/>
            <a:ext cx="29992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677656" y="3291840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대·중·소단원, 차시, 쪽수를 같은 맥락에서 조정</a:t>
            </a:r>
            <a:endParaRPr lang="en-US" sz="1080" dirty="0"/>
          </a:p>
        </p:txBody>
      </p:sp>
      <p:sp>
        <p:nvSpPr>
          <p:cNvPr id="38" name="Shape 36"/>
          <p:cNvSpPr/>
          <p:nvPr/>
        </p:nvSpPr>
        <p:spPr>
          <a:xfrm>
            <a:off x="640080" y="3886200"/>
            <a:ext cx="25420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68096" y="3959352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 개발 방향</a:t>
            </a:r>
            <a:endParaRPr lang="en-US" sz="1130" dirty="0"/>
          </a:p>
        </p:txBody>
      </p:sp>
      <p:sp>
        <p:nvSpPr>
          <p:cNvPr id="40" name="Shape 38"/>
          <p:cNvSpPr/>
          <p:nvPr/>
        </p:nvSpPr>
        <p:spPr>
          <a:xfrm>
            <a:off x="3383280" y="3886200"/>
            <a:ext cx="257860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511296" y="3959352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체제안 선택</a:t>
            </a:r>
            <a:endParaRPr lang="en-US" sz="1130" dirty="0"/>
          </a:p>
        </p:txBody>
      </p:sp>
      <p:sp>
        <p:nvSpPr>
          <p:cNvPr id="42" name="Shape 40"/>
          <p:cNvSpPr/>
          <p:nvPr/>
        </p:nvSpPr>
        <p:spPr>
          <a:xfrm>
            <a:off x="6172200" y="3886200"/>
            <a:ext cx="217627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300216" y="3959352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뒤로 이동</a:t>
            </a:r>
            <a:endParaRPr lang="en-US" sz="1130" dirty="0"/>
          </a:p>
        </p:txBody>
      </p:sp>
      <p:sp>
        <p:nvSpPr>
          <p:cNvPr id="44" name="Shape 42"/>
          <p:cNvSpPr/>
          <p:nvPr/>
        </p:nvSpPr>
        <p:spPr>
          <a:xfrm>
            <a:off x="8549640" y="3886200"/>
            <a:ext cx="29992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677656" y="3959352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정해진 소단원을 대상으로 3개 초안 비교</a:t>
            </a:r>
            <a:endParaRPr lang="en-US" sz="1080" dirty="0"/>
          </a:p>
        </p:txBody>
      </p:sp>
      <p:sp>
        <p:nvSpPr>
          <p:cNvPr id="46" name="Shape 44"/>
          <p:cNvSpPr/>
          <p:nvPr/>
        </p:nvSpPr>
        <p:spPr>
          <a:xfrm>
            <a:off x="640080" y="4553712"/>
            <a:ext cx="25420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68096" y="4626864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8 원고 초안</a:t>
            </a:r>
            <a:endParaRPr lang="en-US" sz="1130" dirty="0"/>
          </a:p>
        </p:txBody>
      </p:sp>
      <p:sp>
        <p:nvSpPr>
          <p:cNvPr id="48" name="Shape 46"/>
          <p:cNvSpPr/>
          <p:nvPr/>
        </p:nvSpPr>
        <p:spPr>
          <a:xfrm>
            <a:off x="3383280" y="4553712"/>
            <a:ext cx="2578608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511296" y="4626864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 비교 + 5 편집</a:t>
            </a:r>
            <a:endParaRPr lang="en-US" sz="1130" dirty="0"/>
          </a:p>
        </p:txBody>
      </p:sp>
      <p:sp>
        <p:nvSpPr>
          <p:cNvPr id="50" name="Shape 48"/>
          <p:cNvSpPr/>
          <p:nvPr/>
        </p:nvSpPr>
        <p:spPr>
          <a:xfrm>
            <a:off x="6172200" y="4553712"/>
            <a:ext cx="217627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300216" y="4626864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분리</a:t>
            </a:r>
            <a:endParaRPr lang="en-US" sz="1130" dirty="0"/>
          </a:p>
        </p:txBody>
      </p:sp>
      <p:sp>
        <p:nvSpPr>
          <p:cNvPr id="52" name="Shape 50"/>
          <p:cNvSpPr/>
          <p:nvPr/>
        </p:nvSpPr>
        <p:spPr>
          <a:xfrm>
            <a:off x="8549640" y="4553712"/>
            <a:ext cx="2999232" cy="667512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8677656" y="4626864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소단원 3안 생성 후 승인안만 상세 편집</a:t>
            </a:r>
            <a:endParaRPr lang="en-US" sz="1080" dirty="0"/>
          </a:p>
        </p:txBody>
      </p:sp>
      <p:sp>
        <p:nvSpPr>
          <p:cNvPr id="54" name="Shape 52"/>
          <p:cNvSpPr/>
          <p:nvPr/>
        </p:nvSpPr>
        <p:spPr>
          <a:xfrm>
            <a:off x="640080" y="5221224"/>
            <a:ext cx="25420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68096" y="5294376"/>
            <a:ext cx="22860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 자동검증·모의심사</a:t>
            </a:r>
            <a:endParaRPr lang="en-US" sz="1130" dirty="0"/>
          </a:p>
        </p:txBody>
      </p:sp>
      <p:sp>
        <p:nvSpPr>
          <p:cNvPr id="56" name="Shape 54"/>
          <p:cNvSpPr/>
          <p:nvPr/>
        </p:nvSpPr>
        <p:spPr>
          <a:xfrm>
            <a:off x="3383280" y="5221224"/>
            <a:ext cx="2578608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511296" y="5294376"/>
            <a:ext cx="23225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버전</a:t>
            </a:r>
            <a:endParaRPr lang="en-US" sz="1130" dirty="0"/>
          </a:p>
        </p:txBody>
      </p:sp>
      <p:sp>
        <p:nvSpPr>
          <p:cNvPr id="58" name="Shape 56"/>
          <p:cNvSpPr/>
          <p:nvPr/>
        </p:nvSpPr>
        <p:spPr>
          <a:xfrm>
            <a:off x="6172200" y="5221224"/>
            <a:ext cx="217627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0216" y="5294376"/>
            <a:ext cx="192024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3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제외</a:t>
            </a:r>
            <a:endParaRPr lang="en-US" sz="1130" dirty="0"/>
          </a:p>
        </p:txBody>
      </p:sp>
      <p:sp>
        <p:nvSpPr>
          <p:cNvPr id="60" name="Shape 58"/>
          <p:cNvSpPr/>
          <p:nvPr/>
        </p:nvSpPr>
        <p:spPr>
          <a:xfrm>
            <a:off x="8549640" y="5221224"/>
            <a:ext cx="2999232" cy="667512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8677656" y="5294376"/>
            <a:ext cx="274320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 검증 후 승인된 흐름만 연결</a:t>
            </a:r>
            <a:endParaRPr lang="en-US" sz="1080" dirty="0"/>
          </a:p>
        </p:txBody>
      </p:sp>
      <p:sp>
        <p:nvSpPr>
          <p:cNvPr id="62" name="Text 60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63" name="Text 61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1단계 비교 · 프로젝트 설정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고정된 예시 입력 화면에서 책 프로젝트와 공식 데이터를 연결하는 시작점으로 바뀌었습니다.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426464"/>
            <a:ext cx="5212080" cy="4517136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32688" y="1709928"/>
            <a:ext cx="658368" cy="310896"/>
          </a:xfrm>
          <a:prstGeom prst="roundRect">
            <a:avLst>
              <a:gd name="adj" fmla="val 47059"/>
            </a:avLst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32688" y="17190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32688" y="2139696"/>
            <a:ext cx="4343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개별 프로젝트 입력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932688" y="2825496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115568" y="2688336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프로젝트명·학교급·학년·교과를 직접 입력</a:t>
            </a:r>
            <a:endParaRPr lang="en-US" sz="1320" dirty="0"/>
          </a:p>
        </p:txBody>
      </p:sp>
      <p:sp>
        <p:nvSpPr>
          <p:cNvPr id="12" name="Shape 10"/>
          <p:cNvSpPr/>
          <p:nvPr/>
        </p:nvSpPr>
        <p:spPr>
          <a:xfrm>
            <a:off x="932688" y="3419856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115568" y="3282696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초등 중심의 고정 예시값</a:t>
            </a:r>
            <a:endParaRPr lang="en-US" sz="1320" dirty="0"/>
          </a:p>
        </p:txBody>
      </p:sp>
      <p:sp>
        <p:nvSpPr>
          <p:cNvPr id="14" name="Shape 12"/>
          <p:cNvSpPr/>
          <p:nvPr/>
        </p:nvSpPr>
        <p:spPr>
          <a:xfrm>
            <a:off x="932688" y="4014216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115568" y="3877056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쪽수·차시 근거 확인이 별도</a:t>
            </a:r>
            <a:endParaRPr lang="en-US" sz="1320" dirty="0"/>
          </a:p>
        </p:txBody>
      </p:sp>
      <p:sp>
        <p:nvSpPr>
          <p:cNvPr id="16" name="Shape 14"/>
          <p:cNvSpPr/>
          <p:nvPr/>
        </p:nvSpPr>
        <p:spPr>
          <a:xfrm>
            <a:off x="932688" y="4608576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15568" y="4471416"/>
            <a:ext cx="4160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프로젝트명 변경 시 저장 단위가 불명확</a:t>
            </a:r>
            <a:endParaRPr lang="en-US" sz="1320" dirty="0"/>
          </a:p>
        </p:txBody>
      </p:sp>
      <p:sp>
        <p:nvSpPr>
          <p:cNvPr id="18" name="Shape 16"/>
          <p:cNvSpPr/>
          <p:nvPr/>
        </p:nvSpPr>
        <p:spPr>
          <a:xfrm>
            <a:off x="6291072" y="1426464"/>
            <a:ext cx="5239512" cy="4517136"/>
          </a:xfrm>
          <a:prstGeom prst="roundRect">
            <a:avLst>
              <a:gd name="adj" fmla="val 3239"/>
            </a:avLst>
          </a:prstGeom>
          <a:solidFill>
            <a:srgbClr val="FFFFFF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565392" y="1709928"/>
            <a:ext cx="1024128" cy="310896"/>
          </a:xfrm>
          <a:prstGeom prst="roundRect">
            <a:avLst>
              <a:gd name="adj" fmla="val 47059"/>
            </a:avLst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565392" y="17190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565392" y="2139696"/>
            <a:ext cx="43708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책 프로젝트를 먼저 선택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565392" y="282549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48272" y="268833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초·중·고 체육 관련 9개 프로젝트 카탈로그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565392" y="332841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48272" y="319125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학년군 연계 + 학년별 분권 / 고등 단권 구조 구분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565392" y="383133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748272" y="369417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학교급·과목·쪽수·차시를 전처리 데이터로 자동 입력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565392" y="433425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748272" y="419709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원본 PDF 쪽수·인쇄면·추출 원문을 한 번에 확인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565392" y="4837176"/>
            <a:ext cx="82296" cy="82296"/>
          </a:xfrm>
          <a:prstGeom prst="ellipse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748272" y="4700016"/>
            <a:ext cx="4187952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자료 미연결 항목은 빈값·경고로 표시하고 편집 허용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658368" y="6108192"/>
            <a:ext cx="10872216" cy="310896"/>
          </a:xfrm>
          <a:prstGeom prst="roundRect">
            <a:avLst>
              <a:gd name="adj" fmla="val 23529"/>
            </a:avLst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7824" y="6126480"/>
            <a:ext cx="1037844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결과  |  입력부터 시작 → 공식 근거를 확인하고 수정·승인하는 흐름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2~3단계 비교 · 교육과정 확인과 단원 배분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기존의 여러 화면을 ‘근거 확인 → 구조 편집’ 두 흐름으로 정리했습니다.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58368" y="1417320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운영 버전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58368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68096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분석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1673352" y="2139696"/>
            <a:ext cx="118872" cy="310896"/>
          </a:xfrm>
          <a:prstGeom prst="chevron">
            <a:avLst/>
          </a:prstGeom>
          <a:solidFill>
            <a:srgbClr val="C8D8D0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810512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920240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1920240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배분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2825496" y="2139696"/>
            <a:ext cx="118872" cy="310896"/>
          </a:xfrm>
          <a:prstGeom prst="chevron">
            <a:avLst/>
          </a:prstGeom>
          <a:solidFill>
            <a:srgbClr val="C8D8D0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962656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072384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072384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내용·종목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선정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3977640" y="2139696"/>
            <a:ext cx="118872" cy="310896"/>
          </a:xfrm>
          <a:prstGeom prst="chevron">
            <a:avLst/>
          </a:prstGeom>
          <a:solidFill>
            <a:srgbClr val="C8D8D0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224528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4224528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목차·쪽수·</a:t>
            </a:r>
            <a:endParaRPr lang="en-US" sz="1150" dirty="0"/>
          </a:p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차시 설계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129784" y="2139696"/>
            <a:ext cx="118872" cy="310896"/>
          </a:xfrm>
          <a:prstGeom prst="chevron">
            <a:avLst/>
          </a:prstGeom>
          <a:solidFill>
            <a:srgbClr val="C8D8D0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266944" y="1828800"/>
            <a:ext cx="987552" cy="987552"/>
          </a:xfrm>
          <a:prstGeom prst="roundRect">
            <a:avLst>
              <a:gd name="adj" fmla="val 10185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376672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7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5376672" y="2185416"/>
            <a:ext cx="7680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설계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58368" y="2990088"/>
            <a:ext cx="5687568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정보가 단계별로 분리되어 차시·쪽수 조정 시 왕복이 많음</a:t>
            </a:r>
            <a:endParaRPr lang="en-US" sz="1180" dirty="0"/>
          </a:p>
        </p:txBody>
      </p:sp>
      <p:sp>
        <p:nvSpPr>
          <p:cNvPr id="27" name="Text 25"/>
          <p:cNvSpPr/>
          <p:nvPr/>
        </p:nvSpPr>
        <p:spPr>
          <a:xfrm>
            <a:off x="6510528" y="1417320"/>
            <a:ext cx="1417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500" dirty="0"/>
          </a:p>
        </p:txBody>
      </p:sp>
      <p:sp>
        <p:nvSpPr>
          <p:cNvPr id="28" name="Shape 26"/>
          <p:cNvSpPr/>
          <p:nvPr/>
        </p:nvSpPr>
        <p:spPr>
          <a:xfrm>
            <a:off x="6510528" y="1828800"/>
            <a:ext cx="1965960" cy="987552"/>
          </a:xfrm>
          <a:prstGeom prst="roundRect">
            <a:avLst>
              <a:gd name="adj" fmla="val 10185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620256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6620256" y="2185416"/>
            <a:ext cx="1746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교육과정 확인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8668512" y="2075688"/>
            <a:ext cx="438912" cy="475488"/>
          </a:xfrm>
          <a:prstGeom prst="chevron">
            <a:avLst/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290304" y="1828800"/>
            <a:ext cx="2240280" cy="987552"/>
          </a:xfrm>
          <a:prstGeom prst="roundRect">
            <a:avLst>
              <a:gd name="adj" fmla="val 10185"/>
            </a:avLst>
          </a:prstGeom>
          <a:solidFill>
            <a:srgbClr val="D4E9DE"/>
          </a:solidFill>
          <a:ln w="12700">
            <a:solidFill>
              <a:srgbClr val="D4E9D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400032" y="1938528"/>
            <a:ext cx="2926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9400032" y="2185416"/>
            <a:ext cx="2020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단원·차시 배분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6510528" y="2990088"/>
            <a:ext cx="50200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성취기준·해설·내용 요소·신체활동 예시를 확인한 뒤 같은 카드 구조에서 편집</a:t>
            </a:r>
            <a:endParaRPr lang="en-US" sz="1180" dirty="0"/>
          </a:p>
        </p:txBody>
      </p:sp>
      <p:sp>
        <p:nvSpPr>
          <p:cNvPr id="36" name="Shape 34"/>
          <p:cNvSpPr/>
          <p:nvPr/>
        </p:nvSpPr>
        <p:spPr>
          <a:xfrm>
            <a:off x="658368" y="3767328"/>
            <a:ext cx="10872216" cy="2212848"/>
          </a:xfrm>
          <a:prstGeom prst="roundRect">
            <a:avLst>
              <a:gd name="adj" fmla="val 6612"/>
            </a:avLst>
          </a:prstGeom>
          <a:solidFill>
            <a:srgbClr val="F2F5F3"/>
          </a:solidFill>
          <a:ln w="12700">
            <a:solidFill>
              <a:srgbClr val="F2F5F3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2688" y="4041648"/>
            <a:ext cx="2423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프로토타입에서 추가된 편집 방식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32688" y="452628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카드 편집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932688" y="49560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대·중·소단원과 차시·쪽수를 한 화면에서 조정</a:t>
            </a:r>
            <a:endParaRPr lang="en-US" sz="1120" dirty="0"/>
          </a:p>
        </p:txBody>
      </p:sp>
      <p:sp>
        <p:nvSpPr>
          <p:cNvPr id="41" name="Shape 39"/>
          <p:cNvSpPr/>
          <p:nvPr/>
        </p:nvSpPr>
        <p:spPr>
          <a:xfrm>
            <a:off x="3547872" y="452628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547872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이동·복사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3547872" y="49560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집필 회의 중 구조를 빠르게 재배치</a:t>
            </a:r>
            <a:endParaRPr lang="en-US" sz="1120" dirty="0"/>
          </a:p>
        </p:txBody>
      </p:sp>
      <p:sp>
        <p:nvSpPr>
          <p:cNvPr id="44" name="Shape 42"/>
          <p:cNvSpPr/>
          <p:nvPr/>
        </p:nvSpPr>
        <p:spPr>
          <a:xfrm>
            <a:off x="6163056" y="452628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163056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배열표 미리보기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6163056" y="49560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쪽수 합계와 페이지 배치를 즉시 확인</a:t>
            </a:r>
            <a:endParaRPr lang="en-US" sz="1120" dirty="0"/>
          </a:p>
        </p:txBody>
      </p:sp>
      <p:sp>
        <p:nvSpPr>
          <p:cNvPr id="47" name="Shape 45"/>
          <p:cNvSpPr/>
          <p:nvPr/>
        </p:nvSpPr>
        <p:spPr>
          <a:xfrm>
            <a:off x="8778240" y="4526280"/>
            <a:ext cx="960120" cy="310896"/>
          </a:xfrm>
          <a:prstGeom prst="roundRect">
            <a:avLst>
              <a:gd name="adj" fmla="val 47059"/>
            </a:avLst>
          </a:prstGeom>
          <a:solidFill>
            <a:srgbClr val="2F8060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778240" y="4535424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CSV 내보내기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8778240" y="4956048"/>
            <a:ext cx="226771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회의·검토용 데이터를 별도 활용</a:t>
            </a:r>
            <a:endParaRPr lang="en-US" sz="1120" dirty="0"/>
          </a:p>
        </p:txBody>
      </p:sp>
      <p:sp>
        <p:nvSpPr>
          <p:cNvPr id="50" name="Text 48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4~5단계 비교 · 체제안과 원고 초안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같은 목차·성취기준 안에서 구성 요소와 활동만 다르게 생성해 비교합니다.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417320"/>
            <a:ext cx="2788920" cy="4553712"/>
          </a:xfrm>
          <a:prstGeom prst="roundRect">
            <a:avLst>
              <a:gd name="adj" fmla="val 5246"/>
            </a:avLst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14400" y="1709928"/>
            <a:ext cx="658368" cy="310896"/>
          </a:xfrm>
          <a:prstGeom prst="roundRect">
            <a:avLst>
              <a:gd name="adj" fmla="val 47059"/>
            </a:avLst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14400" y="171907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914400" y="2139696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7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방향을 먼저 선택</a:t>
            </a:r>
            <a:endParaRPr lang="en-US" sz="1750" dirty="0"/>
          </a:p>
        </p:txBody>
      </p:sp>
      <p:sp>
        <p:nvSpPr>
          <p:cNvPr id="10" name="Shape 8"/>
          <p:cNvSpPr/>
          <p:nvPr/>
        </p:nvSpPr>
        <p:spPr>
          <a:xfrm>
            <a:off x="914400" y="2834640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097280" y="2697480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 구조 확정 전 3개 방향 제시</a:t>
            </a:r>
            <a:endParaRPr lang="en-US" sz="1220" dirty="0"/>
          </a:p>
        </p:txBody>
      </p:sp>
      <p:sp>
        <p:nvSpPr>
          <p:cNvPr id="12" name="Shape 10"/>
          <p:cNvSpPr/>
          <p:nvPr/>
        </p:nvSpPr>
        <p:spPr>
          <a:xfrm>
            <a:off x="914400" y="3438144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97280" y="3300984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옵션별 결과 차이를 미리 보기 어려움</a:t>
            </a:r>
            <a:endParaRPr lang="en-US" sz="1220" dirty="0"/>
          </a:p>
        </p:txBody>
      </p:sp>
      <p:sp>
        <p:nvSpPr>
          <p:cNvPr id="14" name="Shape 12"/>
          <p:cNvSpPr/>
          <p:nvPr/>
        </p:nvSpPr>
        <p:spPr>
          <a:xfrm>
            <a:off x="914400" y="4041648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97280" y="3904488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활동 2개 형식으로 비슷하게 보임</a:t>
            </a:r>
            <a:endParaRPr lang="en-US" sz="1220" dirty="0"/>
          </a:p>
        </p:txBody>
      </p:sp>
      <p:sp>
        <p:nvSpPr>
          <p:cNvPr id="16" name="Shape 14"/>
          <p:cNvSpPr/>
          <p:nvPr/>
        </p:nvSpPr>
        <p:spPr>
          <a:xfrm>
            <a:off x="914400" y="4645152"/>
            <a:ext cx="82296" cy="82296"/>
          </a:xfrm>
          <a:prstGeom prst="ellipse">
            <a:avLst/>
          </a:prstGeom>
          <a:solidFill>
            <a:srgbClr val="38556A"/>
          </a:solidFill>
          <a:ln w="12700">
            <a:solidFill>
              <a:srgbClr val="38556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97280" y="4507992"/>
            <a:ext cx="1993392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2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전체 원고 생성 시 API 사용량 증가 가능</a:t>
            </a:r>
            <a:endParaRPr lang="en-US" sz="1220" dirty="0"/>
          </a:p>
        </p:txBody>
      </p:sp>
      <p:sp>
        <p:nvSpPr>
          <p:cNvPr id="18" name="Shape 16"/>
          <p:cNvSpPr/>
          <p:nvPr/>
        </p:nvSpPr>
        <p:spPr>
          <a:xfrm>
            <a:off x="3639312" y="3255264"/>
            <a:ext cx="548640" cy="685800"/>
          </a:xfrm>
          <a:prstGeom prst="chevron">
            <a:avLst/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407408" y="1417320"/>
            <a:ext cx="7132320" cy="4553712"/>
          </a:xfrm>
          <a:prstGeom prst="roundRect">
            <a:avLst>
              <a:gd name="adj" fmla="val 3213"/>
            </a:avLst>
          </a:prstGeom>
          <a:solidFill>
            <a:srgbClr val="FFFFFF"/>
          </a:solidFill>
          <a:ln w="12700">
            <a:solidFill>
              <a:srgbClr val="2F806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681728" y="1709928"/>
            <a:ext cx="1024128" cy="310896"/>
          </a:xfrm>
          <a:prstGeom prst="roundRect">
            <a:avLst>
              <a:gd name="adj" fmla="val 47059"/>
            </a:avLst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81728" y="1719072"/>
            <a:ext cx="102412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681728" y="2139696"/>
            <a:ext cx="61996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소단원 하나를 3안으로 동시 비교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4681728" y="2761488"/>
            <a:ext cx="1901952" cy="1536192"/>
          </a:xfrm>
          <a:prstGeom prst="roundRect">
            <a:avLst>
              <a:gd name="adj" fmla="val 8333"/>
            </a:avLst>
          </a:prstGeom>
          <a:solidFill>
            <a:srgbClr val="E7EEF3"/>
          </a:solidFill>
          <a:ln w="12700">
            <a:solidFill>
              <a:srgbClr val="E7EE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38556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심사통과형</a:t>
            </a:r>
            <a:endParaRPr lang="en-US" sz="1450" dirty="0"/>
          </a:p>
        </p:txBody>
      </p:sp>
      <p:sp>
        <p:nvSpPr>
          <p:cNvPr id="25" name="Text 23"/>
          <p:cNvSpPr/>
          <p:nvPr/>
        </p:nvSpPr>
        <p:spPr>
          <a:xfrm>
            <a:off x="4846320" y="341071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성취기준·필수 요소를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명확하게 드러내는 구성</a:t>
            </a:r>
            <a:endParaRPr lang="en-US" sz="1080" dirty="0"/>
          </a:p>
        </p:txBody>
      </p:sp>
      <p:sp>
        <p:nvSpPr>
          <p:cNvPr id="26" name="Shape 24"/>
          <p:cNvSpPr/>
          <p:nvPr/>
        </p:nvSpPr>
        <p:spPr>
          <a:xfrm>
            <a:off x="6830568" y="2761488"/>
            <a:ext cx="1901952" cy="1536192"/>
          </a:xfrm>
          <a:prstGeom prst="roundRect">
            <a:avLst>
              <a:gd name="adj" fmla="val 8333"/>
            </a:avLst>
          </a:prstGeom>
          <a:solidFill>
            <a:srgbClr val="E8F3ED"/>
          </a:solidFill>
          <a:ln w="12700">
            <a:solidFill>
              <a:srgbClr val="E8F3ED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995160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학교실행형</a:t>
            </a:r>
            <a:endParaRPr lang="en-US" sz="1450" dirty="0"/>
          </a:p>
        </p:txBody>
      </p:sp>
      <p:sp>
        <p:nvSpPr>
          <p:cNvPr id="28" name="Text 26"/>
          <p:cNvSpPr/>
          <p:nvPr/>
        </p:nvSpPr>
        <p:spPr>
          <a:xfrm>
            <a:off x="6995160" y="341071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수업 시간·준비물·안전을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현장에 맞춘 구성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8979408" y="2761488"/>
            <a:ext cx="1901952" cy="1536192"/>
          </a:xfrm>
          <a:prstGeom prst="roundRect">
            <a:avLst>
              <a:gd name="adj" fmla="val 8333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0" y="2944368"/>
            <a:ext cx="15727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45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창의형</a:t>
            </a:r>
            <a:endParaRPr lang="en-US" sz="1450" dirty="0"/>
          </a:p>
        </p:txBody>
      </p:sp>
      <p:sp>
        <p:nvSpPr>
          <p:cNvPr id="31" name="Text 29"/>
          <p:cNvSpPr/>
          <p:nvPr/>
        </p:nvSpPr>
        <p:spPr>
          <a:xfrm>
            <a:off x="9144000" y="3410712"/>
            <a:ext cx="1572768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재미와 참신한 활동을</a:t>
            </a:r>
            <a:endParaRPr lang="en-US" sz="1080" dirty="0"/>
          </a:p>
          <a:p>
            <a:pPr algn="ctr" indent="0" marL="0">
              <a:buNone/>
            </a:pPr>
            <a:r>
              <a:rPr lang="en-US" sz="108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강화한 구성</a:t>
            </a:r>
            <a:endParaRPr lang="en-US" sz="1080" dirty="0"/>
          </a:p>
        </p:txBody>
      </p:sp>
      <p:sp>
        <p:nvSpPr>
          <p:cNvPr id="32" name="Shape 30"/>
          <p:cNvSpPr/>
          <p:nvPr/>
        </p:nvSpPr>
        <p:spPr>
          <a:xfrm>
            <a:off x="4882896" y="4709160"/>
            <a:ext cx="5897880" cy="0"/>
          </a:xfrm>
          <a:prstGeom prst="line">
            <a:avLst/>
          </a:prstGeom>
          <a:noFill/>
          <a:ln w="25400">
            <a:solidFill>
              <a:srgbClr val="C8D8D0"/>
            </a:solidFill>
            <a:prstDash val="solid"/>
            <a:headEnd type="none"/>
            <a:tailEnd type="triangle"/>
          </a:ln>
        </p:spPr>
      </p:sp>
      <p:sp>
        <p:nvSpPr>
          <p:cNvPr id="33" name="Text 31"/>
          <p:cNvSpPr/>
          <p:nvPr/>
        </p:nvSpPr>
        <p:spPr>
          <a:xfrm>
            <a:off x="6583680" y="4818888"/>
            <a:ext cx="11887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2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한 안 승인</a:t>
            </a:r>
            <a:endParaRPr lang="en-US" sz="1120" dirty="0"/>
          </a:p>
        </p:txBody>
      </p:sp>
      <p:sp>
        <p:nvSpPr>
          <p:cNvPr id="34" name="Text 32"/>
          <p:cNvSpPr/>
          <p:nvPr/>
        </p:nvSpPr>
        <p:spPr>
          <a:xfrm>
            <a:off x="5532120" y="5193792"/>
            <a:ext cx="482803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5단계에서 승인한 초안을 소단원별로 상세 편집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640080" y="6117336"/>
            <a:ext cx="10899648" cy="292608"/>
          </a:xfrm>
          <a:prstGeom prst="roundRect">
            <a:avLst>
              <a:gd name="adj" fmla="val 25000"/>
            </a:avLst>
          </a:prstGeom>
          <a:solidFill>
            <a:srgbClr val="FAF1D9"/>
          </a:solidFill>
          <a:ln w="12700">
            <a:solidFill>
              <a:srgbClr val="FAF1D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68680" y="6126480"/>
            <a:ext cx="10378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8A681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비용 원칙  |  전체 책이 아니라 사용자가 지정한 소단원만 생성</a:t>
            </a:r>
            <a:endParaRPr lang="en-US" sz="1180" dirty="0"/>
          </a:p>
        </p:txBody>
      </p:sp>
      <p:sp>
        <p:nvSpPr>
          <p:cNvPr id="37" name="Text 35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9184"/>
            <a:ext cx="4754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2F806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987552" y="237744"/>
            <a:ext cx="10652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 범위 비교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1005840" y="758952"/>
            <a:ext cx="104241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65736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기능을 건드리지 않고 UX와 의사결정 구조만 검증하는 독립 프로토타입입니다.</a:t>
            </a:r>
            <a:endParaRPr lang="en-US" sz="1150" dirty="0"/>
          </a:p>
        </p:txBody>
      </p:sp>
      <p:sp>
        <p:nvSpPr>
          <p:cNvPr id="5" name="Shape 3"/>
          <p:cNvSpPr/>
          <p:nvPr/>
        </p:nvSpPr>
        <p:spPr>
          <a:xfrm>
            <a:off x="502920" y="1133856"/>
            <a:ext cx="11155680" cy="0"/>
          </a:xfrm>
          <a:prstGeom prst="line">
            <a:avLst/>
          </a:prstGeom>
          <a:noFill/>
          <a:ln w="15240">
            <a:solidFill>
              <a:srgbClr val="C8D8D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58368" y="1399032"/>
            <a:ext cx="2926080" cy="50292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" y="1508760"/>
            <a:ext cx="267004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3794760" y="1399032"/>
            <a:ext cx="2487168" cy="50292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922776" y="15087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기존 운영 버전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6492240" y="1399032"/>
            <a:ext cx="2487168" cy="50292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20256" y="1508760"/>
            <a:ext cx="2231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프로토타입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9189720" y="1399032"/>
            <a:ext cx="2359152" cy="502920"/>
          </a:xfrm>
          <a:prstGeom prst="rect">
            <a:avLst/>
          </a:prstGeom>
          <a:solidFill>
            <a:srgbClr val="1F5D46"/>
          </a:solidFill>
          <a:ln w="12700">
            <a:solidFill>
              <a:srgbClr val="1F5D4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9317736" y="1508760"/>
            <a:ext cx="2103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판단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58368" y="1901952"/>
            <a:ext cx="2926080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6384" y="1965960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실행 구조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794760" y="1901952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22776" y="196596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서버·DB 기반</a:t>
            </a:r>
            <a:endParaRPr lang="en-US" sz="1090" dirty="0"/>
          </a:p>
        </p:txBody>
      </p:sp>
      <p:sp>
        <p:nvSpPr>
          <p:cNvPr id="18" name="Shape 16"/>
          <p:cNvSpPr/>
          <p:nvPr/>
        </p:nvSpPr>
        <p:spPr>
          <a:xfrm>
            <a:off x="6492240" y="1901952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620256" y="196596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정적 HTML/CSS/JS</a:t>
            </a:r>
            <a:endParaRPr lang="en-US" sz="1090" dirty="0"/>
          </a:p>
        </p:txBody>
      </p:sp>
      <p:sp>
        <p:nvSpPr>
          <p:cNvPr id="20" name="Shape 18"/>
          <p:cNvSpPr/>
          <p:nvPr/>
        </p:nvSpPr>
        <p:spPr>
          <a:xfrm>
            <a:off x="9189720" y="1901952"/>
            <a:ext cx="2359152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317736" y="196596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 검증</a:t>
            </a:r>
            <a:endParaRPr lang="en-US" sz="1090" dirty="0"/>
          </a:p>
        </p:txBody>
      </p:sp>
      <p:sp>
        <p:nvSpPr>
          <p:cNvPr id="22" name="Shape 20"/>
          <p:cNvSpPr/>
          <p:nvPr/>
        </p:nvSpPr>
        <p:spPr>
          <a:xfrm>
            <a:off x="658368" y="2532888"/>
            <a:ext cx="292608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86384" y="2596896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저장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3794760" y="2532888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922776" y="259689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DB·협업 데이터</a:t>
            </a:r>
            <a:endParaRPr lang="en-US" sz="1090" dirty="0"/>
          </a:p>
        </p:txBody>
      </p:sp>
      <p:sp>
        <p:nvSpPr>
          <p:cNvPr id="26" name="Shape 24"/>
          <p:cNvSpPr/>
          <p:nvPr/>
        </p:nvSpPr>
        <p:spPr>
          <a:xfrm>
            <a:off x="6492240" y="2532888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620256" y="2596896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브라우저 localStorage</a:t>
            </a:r>
            <a:endParaRPr lang="en-US" sz="1090" dirty="0"/>
          </a:p>
        </p:txBody>
      </p:sp>
      <p:sp>
        <p:nvSpPr>
          <p:cNvPr id="28" name="Shape 26"/>
          <p:cNvSpPr/>
          <p:nvPr/>
        </p:nvSpPr>
        <p:spPr>
          <a:xfrm>
            <a:off x="9189720" y="2532888"/>
            <a:ext cx="23591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317736" y="2596896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로컬 전용</a:t>
            </a:r>
            <a:endParaRPr lang="en-US" sz="1090" dirty="0"/>
          </a:p>
        </p:txBody>
      </p:sp>
      <p:sp>
        <p:nvSpPr>
          <p:cNvPr id="30" name="Shape 28"/>
          <p:cNvSpPr/>
          <p:nvPr/>
        </p:nvSpPr>
        <p:spPr>
          <a:xfrm>
            <a:off x="658368" y="3163824"/>
            <a:ext cx="2926080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86384" y="3227832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로그인·권한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3794760" y="3163824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922776" y="3227832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로그인/역할 연계</a:t>
            </a:r>
            <a:endParaRPr lang="en-US" sz="1090" dirty="0"/>
          </a:p>
        </p:txBody>
      </p:sp>
      <p:sp>
        <p:nvSpPr>
          <p:cNvPr id="34" name="Shape 32"/>
          <p:cNvSpPr/>
          <p:nvPr/>
        </p:nvSpPr>
        <p:spPr>
          <a:xfrm>
            <a:off x="6492240" y="3163824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20256" y="3227832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역할·승인 흐름 시뮬레이션</a:t>
            </a:r>
            <a:endParaRPr lang="en-US" sz="1090" dirty="0"/>
          </a:p>
        </p:txBody>
      </p:sp>
      <p:sp>
        <p:nvSpPr>
          <p:cNvPr id="36" name="Shape 34"/>
          <p:cNvSpPr/>
          <p:nvPr/>
        </p:nvSpPr>
        <p:spPr>
          <a:xfrm>
            <a:off x="9189720" y="3163824"/>
            <a:ext cx="2359152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317736" y="3227832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UX 검증</a:t>
            </a:r>
            <a:endParaRPr lang="en-US" sz="1090" dirty="0"/>
          </a:p>
        </p:txBody>
      </p:sp>
      <p:sp>
        <p:nvSpPr>
          <p:cNvPr id="38" name="Shape 36"/>
          <p:cNvSpPr/>
          <p:nvPr/>
        </p:nvSpPr>
        <p:spPr>
          <a:xfrm>
            <a:off x="658368" y="3794760"/>
            <a:ext cx="292608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86384" y="3858768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초안</a:t>
            </a:r>
            <a:endParaRPr lang="en-US" sz="1150" dirty="0"/>
          </a:p>
        </p:txBody>
      </p:sp>
      <p:sp>
        <p:nvSpPr>
          <p:cNvPr id="40" name="Shape 38"/>
          <p:cNvSpPr/>
          <p:nvPr/>
        </p:nvSpPr>
        <p:spPr>
          <a:xfrm>
            <a:off x="3794760" y="3794760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922776" y="3858768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OpenAI 연계 가능</a:t>
            </a:r>
            <a:endParaRPr lang="en-US" sz="1090" dirty="0"/>
          </a:p>
        </p:txBody>
      </p:sp>
      <p:sp>
        <p:nvSpPr>
          <p:cNvPr id="42" name="Shape 40"/>
          <p:cNvSpPr/>
          <p:nvPr/>
        </p:nvSpPr>
        <p:spPr>
          <a:xfrm>
            <a:off x="6492240" y="3794760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620256" y="3858768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더미 3안 생성</a:t>
            </a:r>
            <a:endParaRPr lang="en-US" sz="1090" dirty="0"/>
          </a:p>
        </p:txBody>
      </p:sp>
      <p:sp>
        <p:nvSpPr>
          <p:cNvPr id="44" name="Shape 42"/>
          <p:cNvSpPr/>
          <p:nvPr/>
        </p:nvSpPr>
        <p:spPr>
          <a:xfrm>
            <a:off x="9189720" y="3794760"/>
            <a:ext cx="23591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9317736" y="3858768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미호출</a:t>
            </a:r>
            <a:endParaRPr lang="en-US" sz="1090" dirty="0"/>
          </a:p>
        </p:txBody>
      </p:sp>
      <p:sp>
        <p:nvSpPr>
          <p:cNvPr id="46" name="Shape 44"/>
          <p:cNvSpPr/>
          <p:nvPr/>
        </p:nvSpPr>
        <p:spPr>
          <a:xfrm>
            <a:off x="658368" y="4425696"/>
            <a:ext cx="2926080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86384" y="4489704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공식자료</a:t>
            </a:r>
            <a:endParaRPr lang="en-US" sz="1150" dirty="0"/>
          </a:p>
        </p:txBody>
      </p:sp>
      <p:sp>
        <p:nvSpPr>
          <p:cNvPr id="48" name="Shape 46"/>
          <p:cNvSpPr/>
          <p:nvPr/>
        </p:nvSpPr>
        <p:spPr>
          <a:xfrm>
            <a:off x="3794760" y="4425696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922776" y="4489704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기능별 연결</a:t>
            </a:r>
            <a:endParaRPr lang="en-US" sz="1090" dirty="0"/>
          </a:p>
        </p:txBody>
      </p:sp>
      <p:sp>
        <p:nvSpPr>
          <p:cNvPr id="50" name="Shape 48"/>
          <p:cNvSpPr/>
          <p:nvPr/>
        </p:nvSpPr>
        <p:spPr>
          <a:xfrm>
            <a:off x="6492240" y="4425696"/>
            <a:ext cx="2487168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6620256" y="4489704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전처리값·원문·원본 쪽수 표시</a:t>
            </a:r>
            <a:endParaRPr lang="en-US" sz="1090" dirty="0"/>
          </a:p>
        </p:txBody>
      </p:sp>
      <p:sp>
        <p:nvSpPr>
          <p:cNvPr id="52" name="Shape 50"/>
          <p:cNvSpPr/>
          <p:nvPr/>
        </p:nvSpPr>
        <p:spPr>
          <a:xfrm>
            <a:off x="9189720" y="4425696"/>
            <a:ext cx="2359152" cy="630936"/>
          </a:xfrm>
          <a:prstGeom prst="rect">
            <a:avLst/>
          </a:prstGeom>
          <a:solidFill>
            <a:srgbClr val="F2F5F3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317736" y="4489704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추적성 강화</a:t>
            </a:r>
            <a:endParaRPr lang="en-US" sz="1090" dirty="0"/>
          </a:p>
        </p:txBody>
      </p:sp>
      <p:sp>
        <p:nvSpPr>
          <p:cNvPr id="54" name="Shape 52"/>
          <p:cNvSpPr/>
          <p:nvPr/>
        </p:nvSpPr>
        <p:spPr>
          <a:xfrm>
            <a:off x="658368" y="5056632"/>
            <a:ext cx="2926080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86384" y="5120640"/>
            <a:ext cx="26700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문서·심사</a:t>
            </a:r>
            <a:endParaRPr lang="en-US" sz="1150" dirty="0"/>
          </a:p>
        </p:txBody>
      </p:sp>
      <p:sp>
        <p:nvSpPr>
          <p:cNvPr id="56" name="Shape 54"/>
          <p:cNvSpPr/>
          <p:nvPr/>
        </p:nvSpPr>
        <p:spPr>
          <a:xfrm>
            <a:off x="3794760" y="5056632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22776" y="512064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HWPX·PDF·모의심사</a:t>
            </a:r>
            <a:endParaRPr lang="en-US" sz="1090" dirty="0"/>
          </a:p>
        </p:txBody>
      </p:sp>
      <p:sp>
        <p:nvSpPr>
          <p:cNvPr id="58" name="Shape 56"/>
          <p:cNvSpPr/>
          <p:nvPr/>
        </p:nvSpPr>
        <p:spPr>
          <a:xfrm>
            <a:off x="6492240" y="5056632"/>
            <a:ext cx="2487168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620256" y="5120640"/>
            <a:ext cx="223113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dirty="0">
                <a:solidFill>
                  <a:srgbClr val="18302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PPT/CSV 내보내기 중심</a:t>
            </a:r>
            <a:endParaRPr lang="en-US" sz="1090" dirty="0"/>
          </a:p>
        </p:txBody>
      </p:sp>
      <p:sp>
        <p:nvSpPr>
          <p:cNvPr id="60" name="Shape 58"/>
          <p:cNvSpPr/>
          <p:nvPr/>
        </p:nvSpPr>
        <p:spPr>
          <a:xfrm>
            <a:off x="9189720" y="5056632"/>
            <a:ext cx="2359152" cy="630936"/>
          </a:xfrm>
          <a:prstGeom prst="rect">
            <a:avLst/>
          </a:prstGeom>
          <a:solidFill>
            <a:srgbClr val="FFFFFF"/>
          </a:solidFill>
          <a:ln w="12700">
            <a:solidFill>
              <a:srgbClr val="C8D8D0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9317736" y="5120640"/>
            <a:ext cx="210312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90" b="1" dirty="0">
                <a:solidFill>
                  <a:srgbClr val="1F5D4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후속 연결</a:t>
            </a:r>
            <a:endParaRPr lang="en-US" sz="1090" dirty="0"/>
          </a:p>
        </p:txBody>
      </p:sp>
      <p:sp>
        <p:nvSpPr>
          <p:cNvPr id="62" name="Shape 60"/>
          <p:cNvSpPr/>
          <p:nvPr/>
        </p:nvSpPr>
        <p:spPr>
          <a:xfrm>
            <a:off x="658368" y="5907024"/>
            <a:ext cx="10890504" cy="438912"/>
          </a:xfrm>
          <a:prstGeom prst="roundRect">
            <a:avLst>
              <a:gd name="adj" fmla="val 20833"/>
            </a:avLst>
          </a:prstGeom>
          <a:solidFill>
            <a:srgbClr val="FBE8E2"/>
          </a:solidFill>
          <a:ln w="12700">
            <a:solidFill>
              <a:srgbClr val="FBE8E2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96112" y="5961888"/>
            <a:ext cx="1040587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E8775D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주의  |  프로토타입의 승인·AI 생성은 운영 기능이 아니라 화면 흐름 검증용입니다.</a:t>
            </a:r>
            <a:endParaRPr lang="en-US" sz="1200" dirty="0"/>
          </a:p>
        </p:txBody>
      </p:sp>
      <p:sp>
        <p:nvSpPr>
          <p:cNvPr id="64" name="Text 62"/>
          <p:cNvSpPr/>
          <p:nvPr/>
        </p:nvSpPr>
        <p:spPr>
          <a:xfrm>
            <a:off x="502920" y="6547104"/>
            <a:ext cx="38404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 · VERSION COMPARISON</a:t>
            </a:r>
            <a:endParaRPr lang="en-US" sz="850" dirty="0"/>
          </a:p>
        </p:txBody>
      </p:sp>
      <p:sp>
        <p:nvSpPr>
          <p:cNvPr id="65" name="Text 63"/>
          <p:cNvSpPr/>
          <p:nvPr/>
        </p:nvSpPr>
        <p:spPr>
          <a:xfrm>
            <a:off x="11201400" y="6519672"/>
            <a:ext cx="47548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87938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F5D4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58368" y="594360"/>
            <a:ext cx="1078992" cy="310896"/>
          </a:xfrm>
          <a:prstGeom prst="roundRect">
            <a:avLst>
              <a:gd name="adj" fmla="val 47059"/>
            </a:avLst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58368" y="603504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CONCLUSION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658368" y="1188720"/>
            <a:ext cx="10515600" cy="11155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프로토타입이 바꾼 것은</a:t>
            </a:r>
            <a:endParaRPr lang="en-US" sz="3000" dirty="0"/>
          </a:p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‘기능의 수’보다 ‘결정의 순서’입니다.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58368" y="2834640"/>
            <a:ext cx="2487168" cy="2157984"/>
          </a:xfrm>
          <a:prstGeom prst="roundRect">
            <a:avLst>
              <a:gd name="adj" fmla="val 6780"/>
            </a:avLst>
          </a:prstGeom>
          <a:solidFill>
            <a:srgbClr val="2A6A52"/>
          </a:solidFill>
          <a:ln w="12700">
            <a:solidFill>
              <a:srgbClr val="2A6A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859536" y="35295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근거부터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59536" y="40782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프로젝트 선택 시 공식자료와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원문 위치를 함께 확인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474720" y="2834640"/>
            <a:ext cx="2487168" cy="2157984"/>
          </a:xfrm>
          <a:prstGeom prst="roundRect">
            <a:avLst>
              <a:gd name="adj" fmla="val 6780"/>
            </a:avLst>
          </a:prstGeom>
          <a:solidFill>
            <a:srgbClr val="2A6A52"/>
          </a:solidFill>
          <a:ln w="12700">
            <a:solidFill>
              <a:srgbClr val="2A6A5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75888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75888" y="35295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구조를 먼저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3675888" y="40782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단원·차시·쪽수를 정한 뒤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개발 방향을 비교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6291072" y="2834640"/>
            <a:ext cx="2487168" cy="2157984"/>
          </a:xfrm>
          <a:prstGeom prst="roundRect">
            <a:avLst>
              <a:gd name="adj" fmla="val 6780"/>
            </a:avLst>
          </a:prstGeom>
          <a:solidFill>
            <a:srgbClr val="E8775D"/>
          </a:solidFill>
          <a:ln w="12700">
            <a:solidFill>
              <a:srgbClr val="E8775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92240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35295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작게 생성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6492240" y="40782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선택 소단원만 3안으로 만들어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API 비용과 검토량을 통제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9107424" y="2834640"/>
            <a:ext cx="2487168" cy="2157984"/>
          </a:xfrm>
          <a:prstGeom prst="roundRect">
            <a:avLst>
              <a:gd name="adj" fmla="val 6780"/>
            </a:avLst>
          </a:prstGeom>
          <a:solidFill>
            <a:srgbClr val="2A6A52"/>
          </a:solidFill>
          <a:ln w="12700">
            <a:solidFill>
              <a:srgbClr val="2A6A5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08592" y="3035808"/>
            <a:ext cx="438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9308592" y="3529584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승인 후 확장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9308592" y="4078224"/>
            <a:ext cx="208483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검증된 UX만 운영 버전에</a:t>
            </a:r>
            <a:endParaRPr lang="en-US" sz="1130" dirty="0"/>
          </a:p>
          <a:p>
            <a:pPr algn="l" indent="0" marL="0">
              <a:buNone/>
            </a:pPr>
            <a:r>
              <a:rPr lang="en-US" sz="113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단계적으로 반영</a:t>
            </a:r>
            <a:endParaRPr lang="en-US" sz="1130" dirty="0"/>
          </a:p>
        </p:txBody>
      </p:sp>
      <p:sp>
        <p:nvSpPr>
          <p:cNvPr id="21" name="Text 19"/>
          <p:cNvSpPr/>
          <p:nvPr/>
        </p:nvSpPr>
        <p:spPr>
          <a:xfrm>
            <a:off x="658368" y="5577840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다음 결정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664208" y="5504688"/>
            <a:ext cx="96469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5단계 흐름을 확정한 뒤 실제 API·권한·모의심사 연결 범위를 정한다.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658368" y="6473952"/>
            <a:ext cx="2286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TEXTBOOK STUDIO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11173968" y="6446520"/>
            <a:ext cx="365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50" dirty="0">
                <a:solidFill>
                  <a:srgbClr val="D4E9D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09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algun Gothic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algun Gothic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YBM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기존 버전 vs 프로토타입</dc:title>
  <dc:subject>기존 운영 버전과 프로토타입의 단계 및 기능 비교</dc:subject>
  <dc:creator>AI Textbook Studio</dc:creator>
  <cp:lastModifiedBy>AI Textbook Studio</cp:lastModifiedBy>
  <cp:revision>1</cp:revision>
  <dcterms:created xsi:type="dcterms:W3CDTF">2026-08-12T00:38:29Z</dcterms:created>
  <dcterms:modified xsi:type="dcterms:W3CDTF">2026-08-12T00:38:29Z</dcterms:modified>
</cp:coreProperties>
</file>