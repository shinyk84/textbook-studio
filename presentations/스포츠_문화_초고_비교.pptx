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스포츠 문화 초고 생성 프로토타입 결과 비교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생성 예시를 인용한 결과물 비교표.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 → 원고 전달 과정에서 발견된 상위 5개 오류.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라운드에서 이어서 검증·수정할 항목들.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180쪽 전체를 이미지 포함해 1회 생성할 때의 근사 비용. 재생성 시 배수로 늘어남을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 — 개발 기간·작업량과 핵심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B6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v0.1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문화 초고 생성,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달라졌나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단계 중 불필요한 부분을 줄여 5단계로 다시 짰고, 그 과정에서 4개 출판사의 교과서·지도서 자료를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폭넓게 살펴 실제 교과서가 쓰는 집필 방식을 초고 생성에 반영했다.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9단계 → 5단계로 재구성 · 2026. 8. 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비교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35640" cy="0"/>
          </a:xfrm>
          <a:prstGeom prst="line">
            <a:avLst/>
          </a:prstGeom>
          <a:noFill/>
          <a:ln w="12700">
            <a:solidFill>
              <a:srgbClr val="D7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660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10835640" cy="0"/>
          </a:xfrm>
          <a:prstGeom prst="line">
            <a:avLst/>
          </a:prstGeom>
          <a:noFill/>
          <a:ln w="9525">
            <a:solidFill>
              <a:srgbClr val="D7DB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17520" y="187452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F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조건이면 항상 같은 문장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187452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724912"/>
            <a:ext cx="1083564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7063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 구성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17520" y="277063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F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소단원과 무관하게 같은 제목 4개 반복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2770632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277063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621024"/>
            <a:ext cx="1083564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66674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마무리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17520" y="3666744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F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똑같은 설명글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366674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66674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517136"/>
            <a:ext cx="1083564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562856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017520" y="4562856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F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이론형과 내용 구분이 거의 없음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75120" y="4562856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456285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413248"/>
            <a:ext cx="1083564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45896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삽화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017520" y="545896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F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내용과 무관한 고정 틀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5458968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E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86600" y="5458968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중 발견한 주요 오류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35640" cy="0"/>
          </a:xfrm>
          <a:prstGeom prst="line">
            <a:avLst/>
          </a:prstGeom>
          <a:noFill/>
          <a:ln w="12700">
            <a:solidFill>
              <a:srgbClr val="D7DB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63624"/>
            <a:ext cx="384048" cy="384048"/>
          </a:xfrm>
          <a:prstGeom prst="ellipse">
            <a:avLst/>
          </a:prstGeom>
          <a:solidFill>
            <a:srgbClr val="2B6E63"/>
          </a:solidFill>
          <a:ln w="12700">
            <a:solidFill>
              <a:srgbClr val="2B6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F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스타일 3종 중 2종이 실제로는 같은 결과로 나옴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167128"/>
            <a:ext cx="1078992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276856"/>
            <a:ext cx="384048" cy="384048"/>
          </a:xfrm>
          <a:prstGeom prst="ellipse">
            <a:avLst/>
          </a:prstGeom>
          <a:solidFill>
            <a:srgbClr val="2B6E63"/>
          </a:solidFill>
          <a:ln w="12700">
            <a:solidFill>
              <a:srgbClr val="2B6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F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2219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 제목이 내용과 무관하게 항상 같은 틀로 고정됨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" y="2880360"/>
            <a:ext cx="1078992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990088"/>
            <a:ext cx="384048" cy="384048"/>
          </a:xfrm>
          <a:prstGeom prst="ellipse">
            <a:avLst/>
          </a:prstGeom>
          <a:solidFill>
            <a:srgbClr val="2B6E63"/>
          </a:solidFill>
          <a:ln w="12700">
            <a:solidFill>
              <a:srgbClr val="2B6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F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93522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"실기형"을 골라도 "이론형"과 똑같이 생성됨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" y="3593592"/>
            <a:ext cx="1078992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703320"/>
            <a:ext cx="384048" cy="384048"/>
          </a:xfrm>
          <a:prstGeom prst="ellipse">
            <a:avLst/>
          </a:prstGeom>
          <a:solidFill>
            <a:srgbClr val="2B6E63"/>
          </a:solidFill>
          <a:ln w="12700">
            <a:solidFill>
              <a:srgbClr val="2B6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F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64845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 개수가 늘어나면서 일부 절 내용이 화면에서 빠짐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3232" y="4306824"/>
            <a:ext cx="1078992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416552"/>
            <a:ext cx="384048" cy="384048"/>
          </a:xfrm>
          <a:prstGeom prst="ellipse">
            <a:avLst/>
          </a:prstGeom>
          <a:solidFill>
            <a:srgbClr val="2B6E63"/>
          </a:solidFill>
          <a:ln w="12700">
            <a:solidFill>
              <a:srgbClr val="2B6E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F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361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생성한 삽화가 다른 컴퓨터에서는 보이지 않음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최종 원고까지 전달되는 여러 단계에서 값이 누락·왜곡되던 지점들 — 모두 확인 후 수정 완료.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남은 과제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35640" cy="0"/>
          </a:xfrm>
          <a:prstGeom prst="line">
            <a:avLst/>
          </a:prstGeom>
          <a:noFill/>
          <a:ln w="12700">
            <a:solidFill>
              <a:srgbClr val="D7DB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18488"/>
            <a:ext cx="274320" cy="0"/>
          </a:xfrm>
          <a:prstGeom prst="line">
            <a:avLst/>
          </a:prstGeom>
          <a:noFill/>
          <a:ln w="25400">
            <a:solidFill>
              <a:srgbClr val="2B6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087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종목·스타일·유형 전체 조합은 다 확인하지 못함 </a:t>
            </a:r>
            <a:pPr algn="l" indent="0" marL="0">
              <a:buNone/>
            </a:pPr>
            <a:r>
              <a:rPr lang="en-US" sz="155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(대표 사례 위주로 검토)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2468880"/>
            <a:ext cx="1078992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670048"/>
            <a:ext cx="274320" cy="0"/>
          </a:xfrm>
          <a:prstGeom prst="line">
            <a:avLst/>
          </a:prstGeom>
          <a:noFill/>
          <a:ln w="25400">
            <a:solidFill>
              <a:srgbClr val="2B6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60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모의심사(5단계) 미실행 </a:t>
            </a:r>
            <a:pPr algn="l" indent="0" marL="0">
              <a:buNone/>
            </a:pPr>
            <a:r>
              <a:rPr lang="en-US" sz="155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AI 초고 자체를 심사하는 기능이 아니라, 편집자가 수정을 마친 최종본을 올려 심사받는 용도. 이 흐름은 아직 검증 전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3232" y="3520440"/>
            <a:ext cx="1078992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721608"/>
            <a:ext cx="274320" cy="0"/>
          </a:xfrm>
          <a:prstGeom prst="line">
            <a:avLst/>
          </a:prstGeom>
          <a:noFill/>
          <a:ln w="25400">
            <a:solidFill>
              <a:srgbClr val="2B6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118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화면에서 일부가 잘려 보이는 문제 </a:t>
            </a:r>
            <a:pPr algn="l" indent="0" marL="0">
              <a:buNone/>
            </a:pPr>
            <a:r>
              <a:rPr lang="en-US" sz="155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수정 중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13232" y="4572000"/>
            <a:ext cx="10789920" cy="0"/>
          </a:xfrm>
          <a:prstGeom prst="line">
            <a:avLst/>
          </a:prstGeom>
          <a:noFill/>
          <a:ln w="6350">
            <a:solidFill>
              <a:srgbClr val="D7DB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773168"/>
            <a:ext cx="274320" cy="0"/>
          </a:xfrm>
          <a:prstGeom prst="line">
            <a:avLst/>
          </a:prstGeom>
          <a:noFill/>
          <a:ln w="25400">
            <a:solidFill>
              <a:srgbClr val="2B6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634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PPT로 내보내면 화면 배치와 100% 같지는 않음 </a:t>
            </a:r>
            <a:pPr algn="l" indent="0" marL="0"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180쪽 전체 1회 생성 비용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35640" cy="0"/>
          </a:xfrm>
          <a:prstGeom prst="line">
            <a:avLst/>
          </a:prstGeom>
          <a:noFill/>
          <a:ln w="12700">
            <a:solidFill>
              <a:srgbClr val="D7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$20–30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내외 · 근사치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펼침면 90개 기준 — 텍스트 90회 생성 + 삽화 평균 3장(총 약 270장).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시세: 이미지 장당 3~8센트, 텍스트는 백만 토큰당 입력 $5 · 출력 $30(최상위 등급 기준).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39776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3E6D3"/>
          </a:solidFill>
          <a:ln w="12700">
            <a:solidFill>
              <a:srgbClr val="F3E6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977640"/>
            <a:ext cx="54864" cy="777240"/>
          </a:xfrm>
          <a:prstGeom prst="rect">
            <a:avLst/>
          </a:prstGeom>
          <a:solidFill>
            <a:srgbClr val="A8631F"/>
          </a:solidFill>
          <a:ln w="12700">
            <a:solidFill>
              <a:srgbClr val="A863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114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63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만족스러울 때까지 </a:t>
            </a:r>
            <a:pPr algn="l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여러 번 다시 만들게 됨 — 2~3회 재생성 시 비용도 2~3배 이상.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4983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3자 집계 기준 · 발표 전 실제 청구 내역 재확인 권장 (WaveSpeed / Unifically / Finout 블로그 집계)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2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개발에 걸린 시간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35640" cy="0"/>
          </a:xfrm>
          <a:prstGeom prst="line">
            <a:avLst/>
          </a:prstGeom>
          <a:noFill/>
          <a:ln w="12700">
            <a:solidFill>
              <a:srgbClr val="D7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B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16–22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— 실제 순수 작업 시간 추정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기간(8/10~8/20)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6432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56432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작업일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9632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99632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커밋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프로토타입(8/10) → 5단계 배포(8/12) 약 2일, 이후 지금 형태로 다듬는 데 약 10일.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C58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작업량은 약 2~3일치 근무시간.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4663440"/>
            <a:ext cx="10515600" cy="0"/>
          </a:xfrm>
          <a:prstGeom prst="line">
            <a:avLst/>
          </a:prstGeom>
          <a:noFill/>
          <a:ln w="19050">
            <a:solidFill>
              <a:srgbClr val="1F2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"고정된 결과물에서, 근거에 기반해 매번 새로 만들어지는 결과물로."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 문화 초고 비교</dc:title>
  <dc:subject>스포츠 문화 초고 생성 — 결과물 비교</dc:subject>
  <dc:creator>AI Textbook Studio</dc:creator>
  <cp:lastModifiedBy>AI Textbook Studio</cp:lastModifiedBy>
  <cp:revision>1</cp:revision>
  <dcterms:created xsi:type="dcterms:W3CDTF">2026-08-20T07:01:17Z</dcterms:created>
  <dcterms:modified xsi:type="dcterms:W3CDTF">2026-08-20T07:01:17Z</dcterms:modified>
</cp:coreProperties>
</file>